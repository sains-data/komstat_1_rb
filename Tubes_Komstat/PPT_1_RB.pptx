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eague Spartan" charset="1" panose="00000800000000000000"/>
      <p:regular r:id="rId16"/>
    </p:embeddedFont>
    <p:embeddedFont>
      <p:font typeface="Montserrat Italics" charset="1" panose="00000500000000000000"/>
      <p:regular r:id="rId17"/>
    </p:embeddedFont>
    <p:embeddedFont>
      <p:font typeface="Montserrat Bold" charset="1" panose="00000800000000000000"/>
      <p:regular r:id="rId18"/>
    </p:embeddedFont>
    <p:embeddedFont>
      <p:font typeface="Montserrat"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B090A"/>
        </a:solidFill>
      </p:bgPr>
    </p:bg>
    <p:spTree>
      <p:nvGrpSpPr>
        <p:cNvPr id="1" name=""/>
        <p:cNvGrpSpPr/>
        <p:nvPr/>
      </p:nvGrpSpPr>
      <p:grpSpPr>
        <a:xfrm>
          <a:off x="0" y="0"/>
          <a:ext cx="0" cy="0"/>
          <a:chOff x="0" y="0"/>
          <a:chExt cx="0" cy="0"/>
        </a:xfrm>
      </p:grpSpPr>
      <p:sp>
        <p:nvSpPr>
          <p:cNvPr name="Freeform 2" id="2"/>
          <p:cNvSpPr/>
          <p:nvPr/>
        </p:nvSpPr>
        <p:spPr>
          <a:xfrm flipH="false" flipV="false" rot="0">
            <a:off x="9969069" y="0"/>
            <a:ext cx="10458133" cy="10287000"/>
          </a:xfrm>
          <a:custGeom>
            <a:avLst/>
            <a:gdLst/>
            <a:ahLst/>
            <a:cxnLst/>
            <a:rect r="r" b="b" t="t" l="l"/>
            <a:pathLst>
              <a:path h="10287000" w="10458133">
                <a:moveTo>
                  <a:pt x="0" y="0"/>
                </a:moveTo>
                <a:lnTo>
                  <a:pt x="10458133" y="0"/>
                </a:lnTo>
                <a:lnTo>
                  <a:pt x="10458133" y="10287000"/>
                </a:lnTo>
                <a:lnTo>
                  <a:pt x="0" y="10287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10458133" cy="10287000"/>
          </a:xfrm>
          <a:custGeom>
            <a:avLst/>
            <a:gdLst/>
            <a:ahLst/>
            <a:cxnLst/>
            <a:rect r="r" b="b" t="t" l="l"/>
            <a:pathLst>
              <a:path h="10287000" w="10458133">
                <a:moveTo>
                  <a:pt x="0" y="0"/>
                </a:moveTo>
                <a:lnTo>
                  <a:pt x="10458133" y="0"/>
                </a:lnTo>
                <a:lnTo>
                  <a:pt x="10458133" y="10287000"/>
                </a:lnTo>
                <a:lnTo>
                  <a:pt x="0" y="10287000"/>
                </a:lnTo>
                <a:lnTo>
                  <a:pt x="0" y="0"/>
                </a:lnTo>
                <a:close/>
              </a:path>
            </a:pathLst>
          </a:custGeom>
          <a:blipFill>
            <a:blip r:embed="rId4">
              <a:alphaModFix amt="16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39313">
            <a:off x="11328409" y="2093459"/>
            <a:ext cx="6897067" cy="12261453"/>
          </a:xfrm>
          <a:custGeom>
            <a:avLst/>
            <a:gdLst/>
            <a:ahLst/>
            <a:cxnLst/>
            <a:rect r="r" b="b" t="t" l="l"/>
            <a:pathLst>
              <a:path h="12261453" w="6897067">
                <a:moveTo>
                  <a:pt x="0" y="0"/>
                </a:moveTo>
                <a:lnTo>
                  <a:pt x="6897067" y="0"/>
                </a:lnTo>
                <a:lnTo>
                  <a:pt x="6897067" y="12261454"/>
                </a:lnTo>
                <a:lnTo>
                  <a:pt x="0" y="122614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a:grpSpLocks noChangeAspect="true"/>
          </p:cNvGrpSpPr>
          <p:nvPr/>
        </p:nvGrpSpPr>
        <p:grpSpPr>
          <a:xfrm rot="-41507">
            <a:off x="12219503" y="3108942"/>
            <a:ext cx="5431930" cy="10748006"/>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8"/>
              <a:stretch>
                <a:fillRect l="0" t="-1464" r="0" b="-1464"/>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B6B299"/>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B6B299"/>
            </a:solidFill>
          </p:spPr>
        </p:sp>
      </p:grpSp>
      <p:sp>
        <p:nvSpPr>
          <p:cNvPr name="Freeform 15" id="15"/>
          <p:cNvSpPr/>
          <p:nvPr/>
        </p:nvSpPr>
        <p:spPr>
          <a:xfrm flipH="false" flipV="false" rot="0">
            <a:off x="16684012" y="3462043"/>
            <a:ext cx="514589" cy="514589"/>
          </a:xfrm>
          <a:custGeom>
            <a:avLst/>
            <a:gdLst/>
            <a:ahLst/>
            <a:cxnLst/>
            <a:rect r="r" b="b" t="t" l="l"/>
            <a:pathLst>
              <a:path h="514589" w="514589">
                <a:moveTo>
                  <a:pt x="0" y="0"/>
                </a:moveTo>
                <a:lnTo>
                  <a:pt x="514589" y="0"/>
                </a:lnTo>
                <a:lnTo>
                  <a:pt x="514589" y="514589"/>
                </a:lnTo>
                <a:lnTo>
                  <a:pt x="0" y="5145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17259300" y="1931099"/>
            <a:ext cx="514589" cy="514589"/>
          </a:xfrm>
          <a:custGeom>
            <a:avLst/>
            <a:gdLst/>
            <a:ahLst/>
            <a:cxnLst/>
            <a:rect r="r" b="b" t="t" l="l"/>
            <a:pathLst>
              <a:path h="514589" w="514589">
                <a:moveTo>
                  <a:pt x="0" y="0"/>
                </a:moveTo>
                <a:lnTo>
                  <a:pt x="514589" y="0"/>
                </a:lnTo>
                <a:lnTo>
                  <a:pt x="514589" y="514589"/>
                </a:lnTo>
                <a:lnTo>
                  <a:pt x="0" y="5145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16426718" y="771406"/>
            <a:ext cx="514589" cy="514589"/>
          </a:xfrm>
          <a:custGeom>
            <a:avLst/>
            <a:gdLst/>
            <a:ahLst/>
            <a:cxnLst/>
            <a:rect r="r" b="b" t="t" l="l"/>
            <a:pathLst>
              <a:path h="514589" w="514589">
                <a:moveTo>
                  <a:pt x="0" y="0"/>
                </a:moveTo>
                <a:lnTo>
                  <a:pt x="514589" y="0"/>
                </a:lnTo>
                <a:lnTo>
                  <a:pt x="514589" y="514588"/>
                </a:lnTo>
                <a:lnTo>
                  <a:pt x="0" y="5145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827198" y="1057275"/>
            <a:ext cx="12804144" cy="2290812"/>
          </a:xfrm>
          <a:prstGeom prst="rect">
            <a:avLst/>
          </a:prstGeom>
        </p:spPr>
        <p:txBody>
          <a:bodyPr anchor="t" rtlCol="false" tIns="0" lIns="0" bIns="0" rIns="0">
            <a:spAutoFit/>
          </a:bodyPr>
          <a:lstStyle/>
          <a:p>
            <a:pPr algn="l">
              <a:lnSpc>
                <a:spcPts val="6089"/>
              </a:lnSpc>
            </a:pPr>
            <a:r>
              <a:rPr lang="en-US" sz="5295" spc="-169">
                <a:solidFill>
                  <a:srgbClr val="FBEFE4"/>
                </a:solidFill>
                <a:latin typeface="League Spartan"/>
                <a:ea typeface="League Spartan"/>
                <a:cs typeface="League Spartan"/>
                <a:sym typeface="League Spartan"/>
              </a:rPr>
              <a:t>ANALISIS FLUKTUASI HARGA CABAI MERAH BESAR DI PROVINSI LAMPUNG DENGAN METODE BOOTSTRAP</a:t>
            </a:r>
          </a:p>
        </p:txBody>
      </p:sp>
      <p:sp>
        <p:nvSpPr>
          <p:cNvPr name="TextBox 19" id="19"/>
          <p:cNvSpPr txBox="true"/>
          <p:nvPr/>
        </p:nvSpPr>
        <p:spPr>
          <a:xfrm rot="0">
            <a:off x="827198" y="4745700"/>
            <a:ext cx="3599471" cy="397800"/>
          </a:xfrm>
          <a:prstGeom prst="rect">
            <a:avLst/>
          </a:prstGeom>
        </p:spPr>
        <p:txBody>
          <a:bodyPr anchor="t" rtlCol="false" tIns="0" lIns="0" bIns="0" rIns="0">
            <a:spAutoFit/>
          </a:bodyPr>
          <a:lstStyle/>
          <a:p>
            <a:pPr algn="l">
              <a:lnSpc>
                <a:spcPts val="2347"/>
              </a:lnSpc>
            </a:pPr>
            <a:r>
              <a:rPr lang="en-US" sz="4695" i="true">
                <a:solidFill>
                  <a:srgbClr val="E58E20"/>
                </a:solidFill>
                <a:latin typeface="Montserrat Italics"/>
                <a:ea typeface="Montserrat Italics"/>
                <a:cs typeface="Montserrat Italics"/>
                <a:sym typeface="Montserrat Italics"/>
              </a:rPr>
              <a:t>Kelompok 1</a:t>
            </a:r>
          </a:p>
        </p:txBody>
      </p:sp>
      <p:sp>
        <p:nvSpPr>
          <p:cNvPr name="TextBox 20" id="20"/>
          <p:cNvSpPr txBox="true"/>
          <p:nvPr/>
        </p:nvSpPr>
        <p:spPr>
          <a:xfrm rot="0">
            <a:off x="827198" y="5193456"/>
            <a:ext cx="8401701" cy="2424658"/>
          </a:xfrm>
          <a:prstGeom prst="rect">
            <a:avLst/>
          </a:prstGeom>
        </p:spPr>
        <p:txBody>
          <a:bodyPr anchor="t" rtlCol="false" tIns="0" lIns="0" bIns="0" rIns="0">
            <a:spAutoFit/>
          </a:bodyPr>
          <a:lstStyle/>
          <a:p>
            <a:pPr algn="l">
              <a:lnSpc>
                <a:spcPts val="4940"/>
              </a:lnSpc>
            </a:pPr>
            <a:r>
              <a:rPr lang="en-US" sz="2839" b="true">
                <a:solidFill>
                  <a:srgbClr val="FBEFE4"/>
                </a:solidFill>
                <a:latin typeface="Montserrat Bold"/>
                <a:ea typeface="Montserrat Bold"/>
                <a:cs typeface="Montserrat Bold"/>
                <a:sym typeface="Montserrat Bold"/>
              </a:rPr>
              <a:t>Dharu Cahyo Aji Sasongko (123450023)</a:t>
            </a:r>
          </a:p>
          <a:p>
            <a:pPr algn="l">
              <a:lnSpc>
                <a:spcPts val="4940"/>
              </a:lnSpc>
            </a:pPr>
            <a:r>
              <a:rPr lang="en-US" sz="2839" b="true">
                <a:solidFill>
                  <a:srgbClr val="FBEFE4"/>
                </a:solidFill>
                <a:latin typeface="Montserrat Bold"/>
                <a:ea typeface="Montserrat Bold"/>
                <a:cs typeface="Montserrat Bold"/>
                <a:sym typeface="Montserrat Bold"/>
              </a:rPr>
              <a:t>Feby Wulandari                     (123450042)</a:t>
            </a:r>
          </a:p>
          <a:p>
            <a:pPr algn="l">
              <a:lnSpc>
                <a:spcPts val="4940"/>
              </a:lnSpc>
            </a:pPr>
            <a:r>
              <a:rPr lang="en-US" sz="2839" b="true">
                <a:solidFill>
                  <a:srgbClr val="FBEFE4"/>
                </a:solidFill>
                <a:latin typeface="Montserrat Bold"/>
                <a:ea typeface="Montserrat Bold"/>
                <a:cs typeface="Montserrat Bold"/>
                <a:sym typeface="Montserrat Bold"/>
              </a:rPr>
              <a:t>Fiodora Alysa Juandi            (123450051)</a:t>
            </a:r>
          </a:p>
          <a:p>
            <a:pPr algn="l">
              <a:lnSpc>
                <a:spcPts val="4940"/>
              </a:lnSpc>
            </a:pPr>
            <a:r>
              <a:rPr lang="en-US" sz="2839" b="true">
                <a:solidFill>
                  <a:srgbClr val="FBEFE4"/>
                </a:solidFill>
                <a:latin typeface="Montserrat Bold"/>
                <a:ea typeface="Montserrat Bold"/>
                <a:cs typeface="Montserrat Bold"/>
                <a:sym typeface="Montserrat Bold"/>
              </a:rPr>
              <a:t>Sarah Wasti                            (123450057)</a:t>
            </a:r>
          </a:p>
        </p:txBody>
      </p:sp>
      <p:sp>
        <p:nvSpPr>
          <p:cNvPr name="Freeform 21" id="21"/>
          <p:cNvSpPr/>
          <p:nvPr/>
        </p:nvSpPr>
        <p:spPr>
          <a:xfrm flipH="true" flipV="false" rot="0">
            <a:off x="519705" y="8482946"/>
            <a:ext cx="2522988" cy="1665172"/>
          </a:xfrm>
          <a:custGeom>
            <a:avLst/>
            <a:gdLst/>
            <a:ahLst/>
            <a:cxnLst/>
            <a:rect r="r" b="b" t="t" l="l"/>
            <a:pathLst>
              <a:path h="1665172" w="2522988">
                <a:moveTo>
                  <a:pt x="2522988" y="0"/>
                </a:moveTo>
                <a:lnTo>
                  <a:pt x="0" y="0"/>
                </a:lnTo>
                <a:lnTo>
                  <a:pt x="0" y="1665172"/>
                </a:lnTo>
                <a:lnTo>
                  <a:pt x="2522988" y="1665172"/>
                </a:lnTo>
                <a:lnTo>
                  <a:pt x="252298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true" flipV="false" rot="0">
            <a:off x="1594585" y="8482946"/>
            <a:ext cx="2522988" cy="1665172"/>
          </a:xfrm>
          <a:custGeom>
            <a:avLst/>
            <a:gdLst/>
            <a:ahLst/>
            <a:cxnLst/>
            <a:rect r="r" b="b" t="t" l="l"/>
            <a:pathLst>
              <a:path h="1665172" w="2522988">
                <a:moveTo>
                  <a:pt x="2522988" y="0"/>
                </a:moveTo>
                <a:lnTo>
                  <a:pt x="0" y="0"/>
                </a:lnTo>
                <a:lnTo>
                  <a:pt x="0" y="1665172"/>
                </a:lnTo>
                <a:lnTo>
                  <a:pt x="2522988" y="1665172"/>
                </a:lnTo>
                <a:lnTo>
                  <a:pt x="252298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6F3"/>
        </a:solidFill>
      </p:bgPr>
    </p:bg>
    <p:spTree>
      <p:nvGrpSpPr>
        <p:cNvPr id="1" name=""/>
        <p:cNvGrpSpPr/>
        <p:nvPr/>
      </p:nvGrpSpPr>
      <p:grpSpPr>
        <a:xfrm>
          <a:off x="0" y="0"/>
          <a:ext cx="0" cy="0"/>
          <a:chOff x="0" y="0"/>
          <a:chExt cx="0" cy="0"/>
        </a:xfrm>
      </p:grpSpPr>
      <p:grpSp>
        <p:nvGrpSpPr>
          <p:cNvPr name="Group 2" id="2"/>
          <p:cNvGrpSpPr/>
          <p:nvPr/>
        </p:nvGrpSpPr>
        <p:grpSpPr>
          <a:xfrm rot="0">
            <a:off x="-8926545" y="-1156563"/>
            <a:ext cx="12600125" cy="12600125"/>
            <a:chOff x="0" y="0"/>
            <a:chExt cx="6350000" cy="6350000"/>
          </a:xfrm>
        </p:grpSpPr>
        <p:sp>
          <p:nvSpPr>
            <p:cNvPr name="Freeform 3" id="3"/>
            <p:cNvSpPr/>
            <p:nvPr/>
          </p:nvSpPr>
          <p:spPr>
            <a:xfrm flipH="false" flipV="false" rot="0">
              <a:off x="16002" y="16002"/>
              <a:ext cx="6317996" cy="6317996"/>
            </a:xfrm>
            <a:custGeom>
              <a:avLst/>
              <a:gdLst/>
              <a:ahLst/>
              <a:cxnLst/>
              <a:rect r="r" b="b" t="t" l="l"/>
              <a:pathLst>
                <a:path h="6317996" w="6317996">
                  <a:moveTo>
                    <a:pt x="3158998" y="0"/>
                  </a:moveTo>
                  <a:cubicBezTo>
                    <a:pt x="1414272" y="0"/>
                    <a:pt x="0" y="1414272"/>
                    <a:pt x="0" y="3158998"/>
                  </a:cubicBezTo>
                  <a:cubicBezTo>
                    <a:pt x="0" y="4903724"/>
                    <a:pt x="1414272" y="6317996"/>
                    <a:pt x="3158998" y="6317996"/>
                  </a:cubicBezTo>
                  <a:cubicBezTo>
                    <a:pt x="4903724" y="6317996"/>
                    <a:pt x="6317996" y="4903724"/>
                    <a:pt x="6317996" y="3158998"/>
                  </a:cubicBezTo>
                  <a:cubicBezTo>
                    <a:pt x="6317996" y="1414272"/>
                    <a:pt x="4903724" y="0"/>
                    <a:pt x="3158998" y="0"/>
                  </a:cubicBezTo>
                  <a:close/>
                  <a:moveTo>
                    <a:pt x="3158998" y="3640836"/>
                  </a:moveTo>
                  <a:cubicBezTo>
                    <a:pt x="2892806" y="3640836"/>
                    <a:pt x="2677160" y="3425063"/>
                    <a:pt x="2677160" y="3158998"/>
                  </a:cubicBezTo>
                  <a:cubicBezTo>
                    <a:pt x="2677160" y="2892933"/>
                    <a:pt x="2892933" y="2677160"/>
                    <a:pt x="3158998" y="2677160"/>
                  </a:cubicBezTo>
                  <a:cubicBezTo>
                    <a:pt x="3425063" y="2677160"/>
                    <a:pt x="3640836" y="2892933"/>
                    <a:pt x="3640836" y="3158998"/>
                  </a:cubicBezTo>
                  <a:cubicBezTo>
                    <a:pt x="3640836" y="3425063"/>
                    <a:pt x="3425190" y="3640836"/>
                    <a:pt x="3158998" y="3640836"/>
                  </a:cubicBezTo>
                  <a:close/>
                </a:path>
              </a:pathLst>
            </a:custGeom>
            <a:blipFill>
              <a:blip r:embed="rId2"/>
              <a:stretch>
                <a:fillRect l="0" t="-38996" r="0" b="-38996"/>
              </a:stretch>
            </a:blipFill>
          </p:spPr>
        </p:sp>
      </p:grpSp>
      <p:grpSp>
        <p:nvGrpSpPr>
          <p:cNvPr name="Group 4" id="4"/>
          <p:cNvGrpSpPr/>
          <p:nvPr/>
        </p:nvGrpSpPr>
        <p:grpSpPr>
          <a:xfrm rot="0">
            <a:off x="5676895" y="394934"/>
            <a:ext cx="10478290" cy="1267533"/>
            <a:chOff x="0" y="0"/>
            <a:chExt cx="2759714" cy="333836"/>
          </a:xfrm>
        </p:grpSpPr>
        <p:sp>
          <p:nvSpPr>
            <p:cNvPr name="Freeform 5" id="5"/>
            <p:cNvSpPr/>
            <p:nvPr/>
          </p:nvSpPr>
          <p:spPr>
            <a:xfrm flipH="false" flipV="false" rot="0">
              <a:off x="0" y="0"/>
              <a:ext cx="2759714" cy="333836"/>
            </a:xfrm>
            <a:custGeom>
              <a:avLst/>
              <a:gdLst/>
              <a:ahLst/>
              <a:cxnLst/>
              <a:rect r="r" b="b" t="t" l="l"/>
              <a:pathLst>
                <a:path h="333836" w="2759714">
                  <a:moveTo>
                    <a:pt x="20688" y="0"/>
                  </a:moveTo>
                  <a:lnTo>
                    <a:pt x="2739026" y="0"/>
                  </a:lnTo>
                  <a:cubicBezTo>
                    <a:pt x="2744513" y="0"/>
                    <a:pt x="2749775" y="2180"/>
                    <a:pt x="2753655" y="6059"/>
                  </a:cubicBezTo>
                  <a:cubicBezTo>
                    <a:pt x="2757535" y="9939"/>
                    <a:pt x="2759714" y="15201"/>
                    <a:pt x="2759714" y="20688"/>
                  </a:cubicBezTo>
                  <a:lnTo>
                    <a:pt x="2759714" y="313148"/>
                  </a:lnTo>
                  <a:cubicBezTo>
                    <a:pt x="2759714" y="318635"/>
                    <a:pt x="2757535" y="323897"/>
                    <a:pt x="2753655" y="327776"/>
                  </a:cubicBezTo>
                  <a:cubicBezTo>
                    <a:pt x="2749775" y="331656"/>
                    <a:pt x="2744513" y="333836"/>
                    <a:pt x="2739026" y="333836"/>
                  </a:cubicBezTo>
                  <a:lnTo>
                    <a:pt x="20688" y="333836"/>
                  </a:lnTo>
                  <a:cubicBezTo>
                    <a:pt x="9262" y="333836"/>
                    <a:pt x="0" y="324573"/>
                    <a:pt x="0" y="313148"/>
                  </a:cubicBezTo>
                  <a:lnTo>
                    <a:pt x="0" y="20688"/>
                  </a:lnTo>
                  <a:cubicBezTo>
                    <a:pt x="0" y="15201"/>
                    <a:pt x="2180" y="9939"/>
                    <a:pt x="6059" y="6059"/>
                  </a:cubicBezTo>
                  <a:cubicBezTo>
                    <a:pt x="9939" y="2180"/>
                    <a:pt x="15201" y="0"/>
                    <a:pt x="20688" y="0"/>
                  </a:cubicBezTo>
                  <a:close/>
                </a:path>
              </a:pathLst>
            </a:custGeom>
            <a:solidFill>
              <a:srgbClr val="D12324"/>
            </a:solidFill>
          </p:spPr>
        </p:sp>
        <p:sp>
          <p:nvSpPr>
            <p:cNvPr name="TextBox 6" id="6"/>
            <p:cNvSpPr txBox="true"/>
            <p:nvPr/>
          </p:nvSpPr>
          <p:spPr>
            <a:xfrm>
              <a:off x="0" y="19050"/>
              <a:ext cx="2759714" cy="314786"/>
            </a:xfrm>
            <a:prstGeom prst="rect">
              <a:avLst/>
            </a:prstGeom>
          </p:spPr>
          <p:txBody>
            <a:bodyPr anchor="ctr" rtlCol="false" tIns="50800" lIns="50800" bIns="50800" rIns="50800"/>
            <a:lstStyle/>
            <a:p>
              <a:pPr algn="ctr">
                <a:lnSpc>
                  <a:spcPts val="2299"/>
                </a:lnSpc>
              </a:pPr>
            </a:p>
          </p:txBody>
        </p:sp>
      </p:grpSp>
      <p:sp>
        <p:nvSpPr>
          <p:cNvPr name="Freeform 7" id="7"/>
          <p:cNvSpPr/>
          <p:nvPr/>
        </p:nvSpPr>
        <p:spPr>
          <a:xfrm flipH="false" flipV="false" rot="0">
            <a:off x="596926" y="9041795"/>
            <a:ext cx="863547" cy="411264"/>
          </a:xfrm>
          <a:custGeom>
            <a:avLst/>
            <a:gdLst/>
            <a:ahLst/>
            <a:cxnLst/>
            <a:rect r="r" b="b" t="t" l="l"/>
            <a:pathLst>
              <a:path h="411264" w="863547">
                <a:moveTo>
                  <a:pt x="0" y="0"/>
                </a:moveTo>
                <a:lnTo>
                  <a:pt x="863548" y="0"/>
                </a:lnTo>
                <a:lnTo>
                  <a:pt x="863548" y="411264"/>
                </a:lnTo>
                <a:lnTo>
                  <a:pt x="0" y="4112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6318822" y="9453059"/>
            <a:ext cx="863547" cy="411264"/>
          </a:xfrm>
          <a:custGeom>
            <a:avLst/>
            <a:gdLst/>
            <a:ahLst/>
            <a:cxnLst/>
            <a:rect r="r" b="b" t="t" l="l"/>
            <a:pathLst>
              <a:path h="411264" w="863547">
                <a:moveTo>
                  <a:pt x="0" y="0"/>
                </a:moveTo>
                <a:lnTo>
                  <a:pt x="863548" y="0"/>
                </a:lnTo>
                <a:lnTo>
                  <a:pt x="863548" y="411264"/>
                </a:lnTo>
                <a:lnTo>
                  <a:pt x="0" y="4112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5430711" y="6802759"/>
            <a:ext cx="9768214" cy="2855932"/>
            <a:chOff x="0" y="0"/>
            <a:chExt cx="1122864" cy="328292"/>
          </a:xfrm>
        </p:grpSpPr>
        <p:sp>
          <p:nvSpPr>
            <p:cNvPr name="Freeform 10" id="10"/>
            <p:cNvSpPr/>
            <p:nvPr/>
          </p:nvSpPr>
          <p:spPr>
            <a:xfrm flipH="false" flipV="false" rot="0">
              <a:off x="0" y="0"/>
              <a:ext cx="1122864" cy="328292"/>
            </a:xfrm>
            <a:custGeom>
              <a:avLst/>
              <a:gdLst/>
              <a:ahLst/>
              <a:cxnLst/>
              <a:rect r="r" b="b" t="t" l="l"/>
              <a:pathLst>
                <a:path h="328292" w="1122864">
                  <a:moveTo>
                    <a:pt x="919664" y="0"/>
                  </a:moveTo>
                  <a:cubicBezTo>
                    <a:pt x="1031888" y="0"/>
                    <a:pt x="1122864" y="73491"/>
                    <a:pt x="1122864" y="164146"/>
                  </a:cubicBezTo>
                  <a:cubicBezTo>
                    <a:pt x="1122864" y="254801"/>
                    <a:pt x="1031888" y="328292"/>
                    <a:pt x="919664" y="328292"/>
                  </a:cubicBezTo>
                  <a:lnTo>
                    <a:pt x="203200" y="328292"/>
                  </a:lnTo>
                  <a:cubicBezTo>
                    <a:pt x="90976" y="328292"/>
                    <a:pt x="0" y="254801"/>
                    <a:pt x="0" y="164146"/>
                  </a:cubicBezTo>
                  <a:cubicBezTo>
                    <a:pt x="0" y="73491"/>
                    <a:pt x="90976" y="0"/>
                    <a:pt x="203200" y="0"/>
                  </a:cubicBezTo>
                  <a:lnTo>
                    <a:pt x="919664" y="0"/>
                  </a:lnTo>
                  <a:close/>
                </a:path>
              </a:pathLst>
            </a:custGeom>
            <a:solidFill>
              <a:srgbClr val="D12324">
                <a:alpha val="95686"/>
              </a:srgbClr>
            </a:solidFill>
            <a:ln cap="rnd">
              <a:noFill/>
              <a:prstDash val="solid"/>
              <a:round/>
            </a:ln>
          </p:spPr>
        </p:sp>
        <p:sp>
          <p:nvSpPr>
            <p:cNvPr name="TextBox 11" id="11"/>
            <p:cNvSpPr txBox="true"/>
            <p:nvPr/>
          </p:nvSpPr>
          <p:spPr>
            <a:xfrm>
              <a:off x="0" y="19050"/>
              <a:ext cx="1122864" cy="309242"/>
            </a:xfrm>
            <a:prstGeom prst="rect">
              <a:avLst/>
            </a:prstGeom>
          </p:spPr>
          <p:txBody>
            <a:bodyPr anchor="ctr" rtlCol="false" tIns="50800" lIns="50800" bIns="50800" rIns="50800"/>
            <a:lstStyle/>
            <a:p>
              <a:pPr algn="ctr" marL="0" indent="0" lvl="0">
                <a:lnSpc>
                  <a:spcPts val="2299"/>
                </a:lnSpc>
                <a:spcBef>
                  <a:spcPct val="0"/>
                </a:spcBef>
              </a:pPr>
            </a:p>
          </p:txBody>
        </p:sp>
      </p:grpSp>
      <p:sp>
        <p:nvSpPr>
          <p:cNvPr name="Freeform 12" id="12"/>
          <p:cNvSpPr/>
          <p:nvPr/>
        </p:nvSpPr>
        <p:spPr>
          <a:xfrm flipH="false" flipV="false" rot="0">
            <a:off x="16827526" y="8836162"/>
            <a:ext cx="863547" cy="411264"/>
          </a:xfrm>
          <a:custGeom>
            <a:avLst/>
            <a:gdLst/>
            <a:ahLst/>
            <a:cxnLst/>
            <a:rect r="r" b="b" t="t" l="l"/>
            <a:pathLst>
              <a:path h="411264" w="863547">
                <a:moveTo>
                  <a:pt x="0" y="0"/>
                </a:moveTo>
                <a:lnTo>
                  <a:pt x="863548" y="0"/>
                </a:lnTo>
                <a:lnTo>
                  <a:pt x="863548" y="411265"/>
                </a:lnTo>
                <a:lnTo>
                  <a:pt x="0" y="4112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4649711" y="2126527"/>
            <a:ext cx="12532659" cy="4212171"/>
            <a:chOff x="0" y="0"/>
            <a:chExt cx="1190623" cy="400163"/>
          </a:xfrm>
        </p:grpSpPr>
        <p:sp>
          <p:nvSpPr>
            <p:cNvPr name="Freeform 14" id="14"/>
            <p:cNvSpPr/>
            <p:nvPr/>
          </p:nvSpPr>
          <p:spPr>
            <a:xfrm flipH="false" flipV="false" rot="0">
              <a:off x="0" y="0"/>
              <a:ext cx="1190623" cy="400163"/>
            </a:xfrm>
            <a:custGeom>
              <a:avLst/>
              <a:gdLst/>
              <a:ahLst/>
              <a:cxnLst/>
              <a:rect r="r" b="b" t="t" l="l"/>
              <a:pathLst>
                <a:path h="400163" w="1190623">
                  <a:moveTo>
                    <a:pt x="987423" y="0"/>
                  </a:moveTo>
                  <a:cubicBezTo>
                    <a:pt x="1099647" y="0"/>
                    <a:pt x="1190623" y="89580"/>
                    <a:pt x="1190623" y="200082"/>
                  </a:cubicBezTo>
                  <a:cubicBezTo>
                    <a:pt x="1190623" y="310584"/>
                    <a:pt x="1099647" y="400163"/>
                    <a:pt x="987423" y="400163"/>
                  </a:cubicBezTo>
                  <a:lnTo>
                    <a:pt x="203200" y="400163"/>
                  </a:lnTo>
                  <a:cubicBezTo>
                    <a:pt x="90976" y="400163"/>
                    <a:pt x="0" y="310584"/>
                    <a:pt x="0" y="200082"/>
                  </a:cubicBezTo>
                  <a:cubicBezTo>
                    <a:pt x="0" y="89580"/>
                    <a:pt x="90976" y="0"/>
                    <a:pt x="203200" y="0"/>
                  </a:cubicBezTo>
                  <a:lnTo>
                    <a:pt x="987423" y="0"/>
                  </a:lnTo>
                  <a:close/>
                </a:path>
              </a:pathLst>
            </a:custGeom>
            <a:solidFill>
              <a:srgbClr val="E58E20">
                <a:alpha val="90980"/>
              </a:srgbClr>
            </a:solidFill>
            <a:ln cap="rnd">
              <a:noFill/>
              <a:prstDash val="solid"/>
              <a:round/>
            </a:ln>
          </p:spPr>
        </p:sp>
        <p:sp>
          <p:nvSpPr>
            <p:cNvPr name="TextBox 15" id="15"/>
            <p:cNvSpPr txBox="true"/>
            <p:nvPr/>
          </p:nvSpPr>
          <p:spPr>
            <a:xfrm>
              <a:off x="0" y="19050"/>
              <a:ext cx="1190623" cy="381113"/>
            </a:xfrm>
            <a:prstGeom prst="rect">
              <a:avLst/>
            </a:prstGeom>
          </p:spPr>
          <p:txBody>
            <a:bodyPr anchor="ctr" rtlCol="false" tIns="50800" lIns="50800" bIns="50800" rIns="50800"/>
            <a:lstStyle/>
            <a:p>
              <a:pPr algn="ctr" marL="0" indent="0" lvl="0">
                <a:lnSpc>
                  <a:spcPts val="2299"/>
                </a:lnSpc>
                <a:spcBef>
                  <a:spcPct val="0"/>
                </a:spcBef>
              </a:pPr>
            </a:p>
          </p:txBody>
        </p:sp>
      </p:grpSp>
      <p:sp>
        <p:nvSpPr>
          <p:cNvPr name="TextBox 16" id="16"/>
          <p:cNvSpPr txBox="true"/>
          <p:nvPr/>
        </p:nvSpPr>
        <p:spPr>
          <a:xfrm rot="0">
            <a:off x="7320782" y="565150"/>
            <a:ext cx="7878144" cy="955675"/>
          </a:xfrm>
          <a:prstGeom prst="rect">
            <a:avLst/>
          </a:prstGeom>
        </p:spPr>
        <p:txBody>
          <a:bodyPr anchor="t" rtlCol="false" tIns="0" lIns="0" bIns="0" rIns="0">
            <a:spAutoFit/>
          </a:bodyPr>
          <a:lstStyle/>
          <a:p>
            <a:pPr algn="l">
              <a:lnSpc>
                <a:spcPts val="7475"/>
              </a:lnSpc>
            </a:pPr>
            <a:r>
              <a:rPr lang="en-US" sz="6500" spc="-208">
                <a:solidFill>
                  <a:srgbClr val="FBEFE4"/>
                </a:solidFill>
                <a:latin typeface="League Spartan"/>
                <a:ea typeface="League Spartan"/>
                <a:cs typeface="League Spartan"/>
                <a:sym typeface="League Spartan"/>
              </a:rPr>
              <a:t>LATAR BELAKANG</a:t>
            </a:r>
          </a:p>
        </p:txBody>
      </p:sp>
      <p:sp>
        <p:nvSpPr>
          <p:cNvPr name="TextBox 17" id="17"/>
          <p:cNvSpPr txBox="true"/>
          <p:nvPr/>
        </p:nvSpPr>
        <p:spPr>
          <a:xfrm rot="0">
            <a:off x="6168626" y="7125596"/>
            <a:ext cx="8711876" cy="2121831"/>
          </a:xfrm>
          <a:prstGeom prst="rect">
            <a:avLst/>
          </a:prstGeom>
        </p:spPr>
        <p:txBody>
          <a:bodyPr anchor="t" rtlCol="false" tIns="0" lIns="0" bIns="0" rIns="0">
            <a:spAutoFit/>
          </a:bodyPr>
          <a:lstStyle/>
          <a:p>
            <a:pPr algn="just">
              <a:lnSpc>
                <a:spcPts val="4243"/>
              </a:lnSpc>
            </a:pPr>
            <a:r>
              <a:rPr lang="en-US" sz="2828" spc="-14">
                <a:solidFill>
                  <a:srgbClr val="F2D6AA"/>
                </a:solidFill>
                <a:latin typeface="Montserrat"/>
                <a:ea typeface="Montserrat"/>
                <a:cs typeface="Montserrat"/>
                <a:sym typeface="Montserrat"/>
              </a:rPr>
              <a:t>• 10 Sept 2025 →turun 3,54% (Rp 45.786/kg)</a:t>
            </a:r>
          </a:p>
          <a:p>
            <a:pPr algn="just">
              <a:lnSpc>
                <a:spcPts val="4243"/>
              </a:lnSpc>
            </a:pPr>
            <a:r>
              <a:rPr lang="en-US" sz="2828" spc="-14">
                <a:solidFill>
                  <a:srgbClr val="F2D6AA"/>
                </a:solidFill>
                <a:latin typeface="Montserrat"/>
                <a:ea typeface="Montserrat"/>
                <a:cs typeface="Montserrat"/>
                <a:sym typeface="Montserrat"/>
              </a:rPr>
              <a:t>• 26 Sept 2025 → naik 2,46% (Rp 56.556/kg)</a:t>
            </a:r>
          </a:p>
          <a:p>
            <a:pPr algn="just">
              <a:lnSpc>
                <a:spcPts val="4243"/>
              </a:lnSpc>
            </a:pPr>
            <a:r>
              <a:rPr lang="en-US" sz="2828" spc="-14">
                <a:solidFill>
                  <a:srgbClr val="F2D6AA"/>
                </a:solidFill>
                <a:latin typeface="Montserrat"/>
                <a:ea typeface="Montserrat"/>
                <a:cs typeface="Montserrat"/>
                <a:sym typeface="Montserrat"/>
              </a:rPr>
              <a:t>• 5 Okt 2025 → naik 4,92% (Rp 53.750/kg)</a:t>
            </a:r>
          </a:p>
          <a:p>
            <a:pPr algn="just">
              <a:lnSpc>
                <a:spcPts val="4243"/>
              </a:lnSpc>
            </a:pPr>
            <a:r>
              <a:rPr lang="en-US" sz="2828" spc="-14">
                <a:solidFill>
                  <a:srgbClr val="F2D6AA"/>
                </a:solidFill>
                <a:latin typeface="Montserrat"/>
                <a:ea typeface="Montserrat"/>
                <a:cs typeface="Montserrat"/>
                <a:sym typeface="Montserrat"/>
              </a:rPr>
              <a:t>• Kenaikan ±30% dalam 3 bulan (data Bappeda)</a:t>
            </a:r>
          </a:p>
        </p:txBody>
      </p:sp>
      <p:sp>
        <p:nvSpPr>
          <p:cNvPr name="TextBox 18" id="18"/>
          <p:cNvSpPr txBox="true"/>
          <p:nvPr/>
        </p:nvSpPr>
        <p:spPr>
          <a:xfrm rot="0">
            <a:off x="5430711" y="2556888"/>
            <a:ext cx="10705983" cy="3455945"/>
          </a:xfrm>
          <a:prstGeom prst="rect">
            <a:avLst/>
          </a:prstGeom>
        </p:spPr>
        <p:txBody>
          <a:bodyPr anchor="t" rtlCol="false" tIns="0" lIns="0" bIns="0" rIns="0">
            <a:spAutoFit/>
          </a:bodyPr>
          <a:lstStyle/>
          <a:p>
            <a:pPr algn="just" marL="659189" indent="-329594" lvl="1">
              <a:lnSpc>
                <a:spcPts val="4579"/>
              </a:lnSpc>
              <a:buFont typeface="Arial"/>
              <a:buChar char="•"/>
            </a:pPr>
            <a:r>
              <a:rPr lang="en-US" sz="3053" spc="-15">
                <a:solidFill>
                  <a:srgbClr val="752833"/>
                </a:solidFill>
                <a:latin typeface="Montserrat"/>
                <a:ea typeface="Montserrat"/>
                <a:cs typeface="Montserrat"/>
                <a:sym typeface="Montserrat"/>
              </a:rPr>
              <a:t>Pemenuhan kebutuhan pangan adalah hak dasar manusia dan sangat dipengaruhi mekanisme pasar.</a:t>
            </a:r>
          </a:p>
          <a:p>
            <a:pPr algn="just" marL="659189" indent="-329594" lvl="1">
              <a:lnSpc>
                <a:spcPts val="4579"/>
              </a:lnSpc>
              <a:buFont typeface="Arial"/>
              <a:buChar char="•"/>
            </a:pPr>
            <a:r>
              <a:rPr lang="en-US" sz="3053" spc="-15">
                <a:solidFill>
                  <a:srgbClr val="752833"/>
                </a:solidFill>
                <a:latin typeface="Montserrat"/>
                <a:ea typeface="Montserrat"/>
                <a:cs typeface="Montserrat"/>
                <a:sym typeface="Montserrat"/>
              </a:rPr>
              <a:t>Stabilitas harga menjadi kunci ketahanan pangan &amp; kesejahteraan masyarakat.</a:t>
            </a:r>
          </a:p>
          <a:p>
            <a:pPr algn="just" marL="659189" indent="-329594" lvl="1">
              <a:lnSpc>
                <a:spcPts val="4579"/>
              </a:lnSpc>
              <a:buFont typeface="Arial"/>
              <a:buChar char="•"/>
            </a:pPr>
            <a:r>
              <a:rPr lang="en-US" sz="3053" spc="-15">
                <a:solidFill>
                  <a:srgbClr val="752833"/>
                </a:solidFill>
                <a:latin typeface="Montserrat"/>
                <a:ea typeface="Montserrat"/>
                <a:cs typeface="Montserrat"/>
                <a:sym typeface="Montserrat"/>
              </a:rPr>
              <a:t>Indonesia sebagai negara agraris, gejolak harga berdampak besar bagi petani &amp; konsumen.</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6F3"/>
        </a:solidFill>
      </p:bgPr>
    </p:bg>
    <p:spTree>
      <p:nvGrpSpPr>
        <p:cNvPr id="1" name=""/>
        <p:cNvGrpSpPr/>
        <p:nvPr/>
      </p:nvGrpSpPr>
      <p:grpSpPr>
        <a:xfrm>
          <a:off x="0" y="0"/>
          <a:ext cx="0" cy="0"/>
          <a:chOff x="0" y="0"/>
          <a:chExt cx="0" cy="0"/>
        </a:xfrm>
      </p:grpSpPr>
      <p:grpSp>
        <p:nvGrpSpPr>
          <p:cNvPr name="Group 2" id="2"/>
          <p:cNvGrpSpPr/>
          <p:nvPr/>
        </p:nvGrpSpPr>
        <p:grpSpPr>
          <a:xfrm rot="0">
            <a:off x="803588" y="1758119"/>
            <a:ext cx="8114772" cy="5711630"/>
            <a:chOff x="0" y="0"/>
            <a:chExt cx="1855411" cy="1305942"/>
          </a:xfrm>
        </p:grpSpPr>
        <p:sp>
          <p:nvSpPr>
            <p:cNvPr name="Freeform 3" id="3"/>
            <p:cNvSpPr/>
            <p:nvPr/>
          </p:nvSpPr>
          <p:spPr>
            <a:xfrm flipH="false" flipV="false" rot="0">
              <a:off x="0" y="0"/>
              <a:ext cx="1855411" cy="1305942"/>
            </a:xfrm>
            <a:custGeom>
              <a:avLst/>
              <a:gdLst/>
              <a:ahLst/>
              <a:cxnLst/>
              <a:rect r="r" b="b" t="t" l="l"/>
              <a:pathLst>
                <a:path h="1305942" w="1855411">
                  <a:moveTo>
                    <a:pt x="73462" y="0"/>
                  </a:moveTo>
                  <a:lnTo>
                    <a:pt x="1781949" y="0"/>
                  </a:lnTo>
                  <a:cubicBezTo>
                    <a:pt x="1801432" y="0"/>
                    <a:pt x="1820118" y="7740"/>
                    <a:pt x="1833894" y="21517"/>
                  </a:cubicBezTo>
                  <a:cubicBezTo>
                    <a:pt x="1847671" y="35293"/>
                    <a:pt x="1855411" y="53979"/>
                    <a:pt x="1855411" y="73462"/>
                  </a:cubicBezTo>
                  <a:lnTo>
                    <a:pt x="1855411" y="1232480"/>
                  </a:lnTo>
                  <a:cubicBezTo>
                    <a:pt x="1855411" y="1251963"/>
                    <a:pt x="1847671" y="1270649"/>
                    <a:pt x="1833894" y="1284425"/>
                  </a:cubicBezTo>
                  <a:cubicBezTo>
                    <a:pt x="1820118" y="1298202"/>
                    <a:pt x="1801432" y="1305942"/>
                    <a:pt x="1781949" y="1305942"/>
                  </a:cubicBezTo>
                  <a:lnTo>
                    <a:pt x="73462" y="1305942"/>
                  </a:lnTo>
                  <a:cubicBezTo>
                    <a:pt x="53979" y="1305942"/>
                    <a:pt x="35293" y="1298202"/>
                    <a:pt x="21517" y="1284425"/>
                  </a:cubicBezTo>
                  <a:cubicBezTo>
                    <a:pt x="7740" y="1270649"/>
                    <a:pt x="0" y="1251963"/>
                    <a:pt x="0" y="1232480"/>
                  </a:cubicBezTo>
                  <a:lnTo>
                    <a:pt x="0" y="73462"/>
                  </a:lnTo>
                  <a:cubicBezTo>
                    <a:pt x="0" y="53979"/>
                    <a:pt x="7740" y="35293"/>
                    <a:pt x="21517" y="21517"/>
                  </a:cubicBezTo>
                  <a:cubicBezTo>
                    <a:pt x="35293" y="7740"/>
                    <a:pt x="53979" y="0"/>
                    <a:pt x="73462" y="0"/>
                  </a:cubicBezTo>
                  <a:close/>
                </a:path>
              </a:pathLst>
            </a:custGeom>
            <a:solidFill>
              <a:srgbClr val="D12324"/>
            </a:solidFill>
            <a:ln w="161925" cap="rnd">
              <a:solidFill>
                <a:srgbClr val="E58E20"/>
              </a:solidFill>
              <a:prstDash val="solid"/>
              <a:round/>
            </a:ln>
          </p:spPr>
        </p:sp>
        <p:sp>
          <p:nvSpPr>
            <p:cNvPr name="TextBox 4" id="4"/>
            <p:cNvSpPr txBox="true"/>
            <p:nvPr/>
          </p:nvSpPr>
          <p:spPr>
            <a:xfrm>
              <a:off x="0" y="19050"/>
              <a:ext cx="1855411" cy="1286892"/>
            </a:xfrm>
            <a:prstGeom prst="rect">
              <a:avLst/>
            </a:prstGeom>
          </p:spPr>
          <p:txBody>
            <a:bodyPr anchor="ctr" rtlCol="false" tIns="50800" lIns="50800" bIns="50800" rIns="50800"/>
            <a:lstStyle/>
            <a:p>
              <a:pPr algn="ctr" marL="0" indent="0" lvl="0">
                <a:lnSpc>
                  <a:spcPts val="2875"/>
                </a:lnSpc>
                <a:spcBef>
                  <a:spcPct val="0"/>
                </a:spcBef>
              </a:pPr>
            </a:p>
          </p:txBody>
        </p:sp>
      </p:grpSp>
      <p:grpSp>
        <p:nvGrpSpPr>
          <p:cNvPr name="Group 5" id="5"/>
          <p:cNvGrpSpPr/>
          <p:nvPr/>
        </p:nvGrpSpPr>
        <p:grpSpPr>
          <a:xfrm rot="0">
            <a:off x="803588" y="782511"/>
            <a:ext cx="8114772" cy="809595"/>
            <a:chOff x="0" y="0"/>
            <a:chExt cx="1234055" cy="123119"/>
          </a:xfrm>
        </p:grpSpPr>
        <p:sp>
          <p:nvSpPr>
            <p:cNvPr name="Freeform 6" id="6"/>
            <p:cNvSpPr/>
            <p:nvPr/>
          </p:nvSpPr>
          <p:spPr>
            <a:xfrm flipH="false" flipV="false" rot="0">
              <a:off x="0" y="0"/>
              <a:ext cx="1234055" cy="123119"/>
            </a:xfrm>
            <a:custGeom>
              <a:avLst/>
              <a:gdLst/>
              <a:ahLst/>
              <a:cxnLst/>
              <a:rect r="r" b="b" t="t" l="l"/>
              <a:pathLst>
                <a:path h="123119" w="1234055">
                  <a:moveTo>
                    <a:pt x="61560" y="0"/>
                  </a:moveTo>
                  <a:lnTo>
                    <a:pt x="1172495" y="0"/>
                  </a:lnTo>
                  <a:cubicBezTo>
                    <a:pt x="1206494" y="0"/>
                    <a:pt x="1234055" y="27561"/>
                    <a:pt x="1234055" y="61560"/>
                  </a:cubicBezTo>
                  <a:lnTo>
                    <a:pt x="1234055" y="61560"/>
                  </a:lnTo>
                  <a:cubicBezTo>
                    <a:pt x="1234055" y="95558"/>
                    <a:pt x="1206494" y="123119"/>
                    <a:pt x="1172495" y="123119"/>
                  </a:cubicBezTo>
                  <a:lnTo>
                    <a:pt x="61560" y="123119"/>
                  </a:lnTo>
                  <a:cubicBezTo>
                    <a:pt x="27561" y="123119"/>
                    <a:pt x="0" y="95558"/>
                    <a:pt x="0" y="61560"/>
                  </a:cubicBezTo>
                  <a:lnTo>
                    <a:pt x="0" y="61560"/>
                  </a:lnTo>
                  <a:cubicBezTo>
                    <a:pt x="0" y="27561"/>
                    <a:pt x="27561" y="0"/>
                    <a:pt x="61560" y="0"/>
                  </a:cubicBezTo>
                  <a:close/>
                </a:path>
              </a:pathLst>
            </a:custGeom>
            <a:solidFill>
              <a:srgbClr val="D12324"/>
            </a:solidFill>
            <a:ln cap="rnd">
              <a:noFill/>
              <a:prstDash val="solid"/>
              <a:round/>
            </a:ln>
          </p:spPr>
        </p:sp>
        <p:sp>
          <p:nvSpPr>
            <p:cNvPr name="TextBox 7" id="7"/>
            <p:cNvSpPr txBox="true"/>
            <p:nvPr/>
          </p:nvSpPr>
          <p:spPr>
            <a:xfrm>
              <a:off x="0" y="19050"/>
              <a:ext cx="1234055" cy="104069"/>
            </a:xfrm>
            <a:prstGeom prst="rect">
              <a:avLst/>
            </a:prstGeom>
          </p:spPr>
          <p:txBody>
            <a:bodyPr anchor="ctr" rtlCol="false" tIns="50800" lIns="50800" bIns="50800" rIns="50800"/>
            <a:lstStyle/>
            <a:p>
              <a:pPr algn="ctr" marL="0" indent="0" lvl="0">
                <a:lnSpc>
                  <a:spcPts val="2875"/>
                </a:lnSpc>
                <a:spcBef>
                  <a:spcPct val="0"/>
                </a:spcBef>
              </a:pPr>
            </a:p>
          </p:txBody>
        </p:sp>
      </p:grpSp>
      <p:sp>
        <p:nvSpPr>
          <p:cNvPr name="Freeform 8" id="8"/>
          <p:cNvSpPr/>
          <p:nvPr/>
        </p:nvSpPr>
        <p:spPr>
          <a:xfrm flipH="false" flipV="false" rot="5400000">
            <a:off x="188838" y="8412411"/>
            <a:ext cx="908115" cy="432490"/>
          </a:xfrm>
          <a:custGeom>
            <a:avLst/>
            <a:gdLst/>
            <a:ahLst/>
            <a:cxnLst/>
            <a:rect r="r" b="b" t="t" l="l"/>
            <a:pathLst>
              <a:path h="432490" w="908115">
                <a:moveTo>
                  <a:pt x="0" y="0"/>
                </a:moveTo>
                <a:lnTo>
                  <a:pt x="908115" y="0"/>
                </a:lnTo>
                <a:lnTo>
                  <a:pt x="908115" y="432490"/>
                </a:lnTo>
                <a:lnTo>
                  <a:pt x="0" y="4324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16588998" y="794112"/>
            <a:ext cx="908115" cy="432490"/>
          </a:xfrm>
          <a:custGeom>
            <a:avLst/>
            <a:gdLst/>
            <a:ahLst/>
            <a:cxnLst/>
            <a:rect r="r" b="b" t="t" l="l"/>
            <a:pathLst>
              <a:path h="432490" w="908115">
                <a:moveTo>
                  <a:pt x="0" y="0"/>
                </a:moveTo>
                <a:lnTo>
                  <a:pt x="908114" y="0"/>
                </a:lnTo>
                <a:lnTo>
                  <a:pt x="908114" y="432490"/>
                </a:lnTo>
                <a:lnTo>
                  <a:pt x="0" y="4324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9750658" y="5723762"/>
            <a:ext cx="7508642" cy="3693317"/>
            <a:chOff x="0" y="0"/>
            <a:chExt cx="1977585" cy="972726"/>
          </a:xfrm>
        </p:grpSpPr>
        <p:sp>
          <p:nvSpPr>
            <p:cNvPr name="Freeform 11" id="11"/>
            <p:cNvSpPr/>
            <p:nvPr/>
          </p:nvSpPr>
          <p:spPr>
            <a:xfrm flipH="false" flipV="false" rot="0">
              <a:off x="0" y="0"/>
              <a:ext cx="1977585" cy="972726"/>
            </a:xfrm>
            <a:custGeom>
              <a:avLst/>
              <a:gdLst/>
              <a:ahLst/>
              <a:cxnLst/>
              <a:rect r="r" b="b" t="t" l="l"/>
              <a:pathLst>
                <a:path h="972726" w="1977585">
                  <a:moveTo>
                    <a:pt x="52584" y="0"/>
                  </a:moveTo>
                  <a:lnTo>
                    <a:pt x="1925000" y="0"/>
                  </a:lnTo>
                  <a:cubicBezTo>
                    <a:pt x="1954042" y="0"/>
                    <a:pt x="1977585" y="23543"/>
                    <a:pt x="1977585" y="52584"/>
                  </a:cubicBezTo>
                  <a:lnTo>
                    <a:pt x="1977585" y="920141"/>
                  </a:lnTo>
                  <a:cubicBezTo>
                    <a:pt x="1977585" y="949183"/>
                    <a:pt x="1954042" y="972726"/>
                    <a:pt x="1925000" y="972726"/>
                  </a:cubicBezTo>
                  <a:lnTo>
                    <a:pt x="52584" y="972726"/>
                  </a:lnTo>
                  <a:cubicBezTo>
                    <a:pt x="23543" y="972726"/>
                    <a:pt x="0" y="949183"/>
                    <a:pt x="0" y="920141"/>
                  </a:cubicBezTo>
                  <a:lnTo>
                    <a:pt x="0" y="52584"/>
                  </a:lnTo>
                  <a:cubicBezTo>
                    <a:pt x="0" y="23543"/>
                    <a:pt x="23543" y="0"/>
                    <a:pt x="52584" y="0"/>
                  </a:cubicBezTo>
                  <a:close/>
                </a:path>
              </a:pathLst>
            </a:custGeom>
            <a:solidFill>
              <a:srgbClr val="D12324"/>
            </a:solidFill>
          </p:spPr>
        </p:sp>
        <p:sp>
          <p:nvSpPr>
            <p:cNvPr name="TextBox 12" id="12"/>
            <p:cNvSpPr txBox="true"/>
            <p:nvPr/>
          </p:nvSpPr>
          <p:spPr>
            <a:xfrm>
              <a:off x="0" y="19050"/>
              <a:ext cx="1977585" cy="953676"/>
            </a:xfrm>
            <a:prstGeom prst="rect">
              <a:avLst/>
            </a:prstGeom>
          </p:spPr>
          <p:txBody>
            <a:bodyPr anchor="ctr" rtlCol="false" tIns="50800" lIns="50800" bIns="50800" rIns="50800"/>
            <a:lstStyle/>
            <a:p>
              <a:pPr algn="ctr">
                <a:lnSpc>
                  <a:spcPts val="2875"/>
                </a:lnSpc>
              </a:pPr>
            </a:p>
          </p:txBody>
        </p:sp>
      </p:grpSp>
      <p:grpSp>
        <p:nvGrpSpPr>
          <p:cNvPr name="Group 13" id="13"/>
          <p:cNvGrpSpPr/>
          <p:nvPr/>
        </p:nvGrpSpPr>
        <p:grpSpPr>
          <a:xfrm rot="0">
            <a:off x="9984748" y="5889603"/>
            <a:ext cx="7040462" cy="3361635"/>
            <a:chOff x="0" y="0"/>
            <a:chExt cx="1854278" cy="885369"/>
          </a:xfrm>
        </p:grpSpPr>
        <p:sp>
          <p:nvSpPr>
            <p:cNvPr name="Freeform 14" id="14"/>
            <p:cNvSpPr/>
            <p:nvPr/>
          </p:nvSpPr>
          <p:spPr>
            <a:xfrm flipH="false" flipV="false" rot="0">
              <a:off x="0" y="0"/>
              <a:ext cx="1854278" cy="885369"/>
            </a:xfrm>
            <a:custGeom>
              <a:avLst/>
              <a:gdLst/>
              <a:ahLst/>
              <a:cxnLst/>
              <a:rect r="r" b="b" t="t" l="l"/>
              <a:pathLst>
                <a:path h="885369" w="1854278">
                  <a:moveTo>
                    <a:pt x="56081" y="0"/>
                  </a:moveTo>
                  <a:lnTo>
                    <a:pt x="1798197" y="0"/>
                  </a:lnTo>
                  <a:cubicBezTo>
                    <a:pt x="1813071" y="0"/>
                    <a:pt x="1827335" y="5909"/>
                    <a:pt x="1837852" y="16426"/>
                  </a:cubicBezTo>
                  <a:cubicBezTo>
                    <a:pt x="1848370" y="26943"/>
                    <a:pt x="1854278" y="41208"/>
                    <a:pt x="1854278" y="56081"/>
                  </a:cubicBezTo>
                  <a:lnTo>
                    <a:pt x="1854278" y="829288"/>
                  </a:lnTo>
                  <a:cubicBezTo>
                    <a:pt x="1854278" y="844161"/>
                    <a:pt x="1848370" y="858426"/>
                    <a:pt x="1837852" y="868943"/>
                  </a:cubicBezTo>
                  <a:cubicBezTo>
                    <a:pt x="1827335" y="879460"/>
                    <a:pt x="1813071" y="885369"/>
                    <a:pt x="1798197" y="885369"/>
                  </a:cubicBezTo>
                  <a:lnTo>
                    <a:pt x="56081" y="885369"/>
                  </a:lnTo>
                  <a:cubicBezTo>
                    <a:pt x="41208" y="885369"/>
                    <a:pt x="26943" y="879460"/>
                    <a:pt x="16426" y="868943"/>
                  </a:cubicBezTo>
                  <a:cubicBezTo>
                    <a:pt x="5909" y="858426"/>
                    <a:pt x="0" y="844161"/>
                    <a:pt x="0" y="829288"/>
                  </a:cubicBezTo>
                  <a:lnTo>
                    <a:pt x="0" y="56081"/>
                  </a:lnTo>
                  <a:cubicBezTo>
                    <a:pt x="0" y="41208"/>
                    <a:pt x="5909" y="26943"/>
                    <a:pt x="16426" y="16426"/>
                  </a:cubicBezTo>
                  <a:cubicBezTo>
                    <a:pt x="26943" y="5909"/>
                    <a:pt x="41208" y="0"/>
                    <a:pt x="56081" y="0"/>
                  </a:cubicBezTo>
                  <a:close/>
                </a:path>
              </a:pathLst>
            </a:custGeom>
            <a:solidFill>
              <a:srgbClr val="E58E20"/>
            </a:solidFill>
          </p:spPr>
        </p:sp>
        <p:sp>
          <p:nvSpPr>
            <p:cNvPr name="TextBox 15" id="15"/>
            <p:cNvSpPr txBox="true"/>
            <p:nvPr/>
          </p:nvSpPr>
          <p:spPr>
            <a:xfrm>
              <a:off x="0" y="19050"/>
              <a:ext cx="1854278" cy="866319"/>
            </a:xfrm>
            <a:prstGeom prst="rect">
              <a:avLst/>
            </a:prstGeom>
          </p:spPr>
          <p:txBody>
            <a:bodyPr anchor="ctr" rtlCol="false" tIns="50800" lIns="50800" bIns="50800" rIns="50800"/>
            <a:lstStyle/>
            <a:p>
              <a:pPr algn="ctr">
                <a:lnSpc>
                  <a:spcPts val="2875"/>
                </a:lnSpc>
              </a:pPr>
            </a:p>
          </p:txBody>
        </p:sp>
      </p:grpSp>
      <p:sp>
        <p:nvSpPr>
          <p:cNvPr name="Freeform 16" id="16"/>
          <p:cNvSpPr/>
          <p:nvPr/>
        </p:nvSpPr>
        <p:spPr>
          <a:xfrm flipH="false" flipV="false" rot="-10666662">
            <a:off x="714591" y="9434524"/>
            <a:ext cx="908115" cy="432490"/>
          </a:xfrm>
          <a:custGeom>
            <a:avLst/>
            <a:gdLst/>
            <a:ahLst/>
            <a:cxnLst/>
            <a:rect r="r" b="b" t="t" l="l"/>
            <a:pathLst>
              <a:path h="432490" w="908115">
                <a:moveTo>
                  <a:pt x="0" y="0"/>
                </a:moveTo>
                <a:lnTo>
                  <a:pt x="908115" y="0"/>
                </a:lnTo>
                <a:lnTo>
                  <a:pt x="908115" y="432489"/>
                </a:lnTo>
                <a:lnTo>
                  <a:pt x="0" y="4324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10005684" y="4482231"/>
            <a:ext cx="6998591" cy="910863"/>
            <a:chOff x="0" y="0"/>
            <a:chExt cx="1064312" cy="138520"/>
          </a:xfrm>
        </p:grpSpPr>
        <p:sp>
          <p:nvSpPr>
            <p:cNvPr name="Freeform 18" id="18"/>
            <p:cNvSpPr/>
            <p:nvPr/>
          </p:nvSpPr>
          <p:spPr>
            <a:xfrm flipH="false" flipV="false" rot="0">
              <a:off x="0" y="0"/>
              <a:ext cx="1064312" cy="138520"/>
            </a:xfrm>
            <a:custGeom>
              <a:avLst/>
              <a:gdLst/>
              <a:ahLst/>
              <a:cxnLst/>
              <a:rect r="r" b="b" t="t" l="l"/>
              <a:pathLst>
                <a:path h="138520" w="1064312">
                  <a:moveTo>
                    <a:pt x="69260" y="0"/>
                  </a:moveTo>
                  <a:lnTo>
                    <a:pt x="995052" y="0"/>
                  </a:lnTo>
                  <a:cubicBezTo>
                    <a:pt x="1013421" y="0"/>
                    <a:pt x="1031037" y="7297"/>
                    <a:pt x="1044026" y="20286"/>
                  </a:cubicBezTo>
                  <a:cubicBezTo>
                    <a:pt x="1057015" y="33274"/>
                    <a:pt x="1064312" y="50891"/>
                    <a:pt x="1064312" y="69260"/>
                  </a:cubicBezTo>
                  <a:lnTo>
                    <a:pt x="1064312" y="69260"/>
                  </a:lnTo>
                  <a:cubicBezTo>
                    <a:pt x="1064312" y="107511"/>
                    <a:pt x="1033303" y="138520"/>
                    <a:pt x="995052" y="138520"/>
                  </a:cubicBezTo>
                  <a:lnTo>
                    <a:pt x="69260" y="138520"/>
                  </a:lnTo>
                  <a:cubicBezTo>
                    <a:pt x="50891" y="138520"/>
                    <a:pt x="33274" y="131223"/>
                    <a:pt x="20286" y="118234"/>
                  </a:cubicBezTo>
                  <a:cubicBezTo>
                    <a:pt x="7297" y="105245"/>
                    <a:pt x="0" y="87629"/>
                    <a:pt x="0" y="69260"/>
                  </a:cubicBezTo>
                  <a:lnTo>
                    <a:pt x="0" y="69260"/>
                  </a:lnTo>
                  <a:cubicBezTo>
                    <a:pt x="0" y="50891"/>
                    <a:pt x="7297" y="33274"/>
                    <a:pt x="20286" y="20286"/>
                  </a:cubicBezTo>
                  <a:cubicBezTo>
                    <a:pt x="33274" y="7297"/>
                    <a:pt x="50891" y="0"/>
                    <a:pt x="69260" y="0"/>
                  </a:cubicBezTo>
                  <a:close/>
                </a:path>
              </a:pathLst>
            </a:custGeom>
            <a:solidFill>
              <a:srgbClr val="E58E20"/>
            </a:solidFill>
            <a:ln cap="rnd">
              <a:noFill/>
              <a:prstDash val="solid"/>
              <a:round/>
            </a:ln>
          </p:spPr>
        </p:sp>
        <p:sp>
          <p:nvSpPr>
            <p:cNvPr name="TextBox 19" id="19"/>
            <p:cNvSpPr txBox="true"/>
            <p:nvPr/>
          </p:nvSpPr>
          <p:spPr>
            <a:xfrm>
              <a:off x="0" y="19050"/>
              <a:ext cx="1064312" cy="119470"/>
            </a:xfrm>
            <a:prstGeom prst="rect">
              <a:avLst/>
            </a:prstGeom>
          </p:spPr>
          <p:txBody>
            <a:bodyPr anchor="ctr" rtlCol="false" tIns="50800" lIns="50800" bIns="50800" rIns="50800"/>
            <a:lstStyle/>
            <a:p>
              <a:pPr algn="ctr" marL="0" indent="0" lvl="0">
                <a:lnSpc>
                  <a:spcPts val="2875"/>
                </a:lnSpc>
                <a:spcBef>
                  <a:spcPct val="0"/>
                </a:spcBef>
              </a:pPr>
            </a:p>
          </p:txBody>
        </p:sp>
      </p:grpSp>
      <p:sp>
        <p:nvSpPr>
          <p:cNvPr name="Freeform 20" id="20"/>
          <p:cNvSpPr/>
          <p:nvPr/>
        </p:nvSpPr>
        <p:spPr>
          <a:xfrm flipH="false" flipV="false" rot="5400000">
            <a:off x="17417950" y="9042055"/>
            <a:ext cx="908115" cy="432490"/>
          </a:xfrm>
          <a:custGeom>
            <a:avLst/>
            <a:gdLst/>
            <a:ahLst/>
            <a:cxnLst/>
            <a:rect r="r" b="b" t="t" l="l"/>
            <a:pathLst>
              <a:path h="432490" w="908115">
                <a:moveTo>
                  <a:pt x="0" y="0"/>
                </a:moveTo>
                <a:lnTo>
                  <a:pt x="908114" y="0"/>
                </a:lnTo>
                <a:lnTo>
                  <a:pt x="908114" y="432490"/>
                </a:lnTo>
                <a:lnTo>
                  <a:pt x="0" y="4324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1409714">
            <a:off x="16002409" y="3390005"/>
            <a:ext cx="1513918" cy="1014325"/>
          </a:xfrm>
          <a:custGeom>
            <a:avLst/>
            <a:gdLst/>
            <a:ahLst/>
            <a:cxnLst/>
            <a:rect r="r" b="b" t="t" l="l"/>
            <a:pathLst>
              <a:path h="1014325" w="1513918">
                <a:moveTo>
                  <a:pt x="0" y="0"/>
                </a:moveTo>
                <a:lnTo>
                  <a:pt x="1513918" y="0"/>
                </a:lnTo>
                <a:lnTo>
                  <a:pt x="1513918" y="1014325"/>
                </a:lnTo>
                <a:lnTo>
                  <a:pt x="0" y="1014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10353184" y="-556494"/>
            <a:ext cx="5038802" cy="4114800"/>
          </a:xfrm>
          <a:custGeom>
            <a:avLst/>
            <a:gdLst/>
            <a:ahLst/>
            <a:cxnLst/>
            <a:rect r="r" b="b" t="t" l="l"/>
            <a:pathLst>
              <a:path h="4114800" w="5038802">
                <a:moveTo>
                  <a:pt x="0" y="0"/>
                </a:moveTo>
                <a:lnTo>
                  <a:pt x="5038802" y="0"/>
                </a:lnTo>
                <a:lnTo>
                  <a:pt x="50388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113097" y="2200339"/>
            <a:ext cx="7342610" cy="4731941"/>
          </a:xfrm>
          <a:prstGeom prst="rect">
            <a:avLst/>
          </a:prstGeom>
        </p:spPr>
        <p:txBody>
          <a:bodyPr anchor="t" rtlCol="false" tIns="0" lIns="0" bIns="0" rIns="0">
            <a:spAutoFit/>
          </a:bodyPr>
          <a:lstStyle/>
          <a:p>
            <a:pPr algn="l" marL="497387" indent="-248693" lvl="1">
              <a:lnSpc>
                <a:spcPts val="3755"/>
              </a:lnSpc>
              <a:buFont typeface="Arial"/>
              <a:buChar char="•"/>
            </a:pPr>
            <a:r>
              <a:rPr lang="en-US" sz="2303" spc="-11">
                <a:solidFill>
                  <a:srgbClr val="F8F6F3"/>
                </a:solidFill>
                <a:latin typeface="Montserrat"/>
                <a:ea typeface="Montserrat"/>
                <a:cs typeface="Montserrat"/>
                <a:sym typeface="Montserrat"/>
              </a:rPr>
              <a:t>Harga cabai merah besar di Lampung mengalami fluktuasi tajam</a:t>
            </a:r>
          </a:p>
          <a:p>
            <a:pPr algn="l" marL="497387" indent="-248693" lvl="1">
              <a:lnSpc>
                <a:spcPts val="3755"/>
              </a:lnSpc>
              <a:buFont typeface="Arial"/>
              <a:buChar char="•"/>
            </a:pPr>
            <a:r>
              <a:rPr lang="en-US" sz="2303" spc="-11">
                <a:solidFill>
                  <a:srgbClr val="F8F6F3"/>
                </a:solidFill>
                <a:latin typeface="Montserrat"/>
                <a:ea typeface="Montserrat"/>
                <a:cs typeface="Montserrat"/>
                <a:sym typeface="Montserrat"/>
              </a:rPr>
              <a:t>Kenaikan dan penurunan harga terjadi dalam waktu singkat</a:t>
            </a:r>
          </a:p>
          <a:p>
            <a:pPr algn="l" marL="497387" indent="-248693" lvl="1">
              <a:lnSpc>
                <a:spcPts val="3755"/>
              </a:lnSpc>
              <a:buFont typeface="Arial"/>
              <a:buChar char="•"/>
            </a:pPr>
            <a:r>
              <a:rPr lang="en-US" sz="2303" spc="-11">
                <a:solidFill>
                  <a:srgbClr val="F8F6F3"/>
                </a:solidFill>
                <a:latin typeface="Montserrat"/>
                <a:ea typeface="Montserrat"/>
                <a:cs typeface="Montserrat"/>
                <a:sym typeface="Montserrat"/>
              </a:rPr>
              <a:t>Volatilitas </a:t>
            </a:r>
            <a:r>
              <a:rPr lang="en-US" sz="2303" spc="-11">
                <a:solidFill>
                  <a:srgbClr val="F8F6F3"/>
                </a:solidFill>
                <a:latin typeface="Montserrat"/>
                <a:ea typeface="Montserrat"/>
                <a:cs typeface="Montserrat"/>
                <a:sym typeface="Montserrat"/>
              </a:rPr>
              <a:t>harga berdampak pada inflasi lokal dan daya beli masyarakat.</a:t>
            </a:r>
          </a:p>
          <a:p>
            <a:pPr algn="l" marL="497387" indent="-248693" lvl="1">
              <a:lnSpc>
                <a:spcPts val="3755"/>
              </a:lnSpc>
              <a:buFont typeface="Arial"/>
              <a:buChar char="•"/>
            </a:pPr>
            <a:r>
              <a:rPr lang="en-US" sz="2303" spc="-11">
                <a:solidFill>
                  <a:srgbClr val="F8F6F3"/>
                </a:solidFill>
                <a:latin typeface="Montserrat"/>
                <a:ea typeface="Montserrat"/>
                <a:cs typeface="Montserrat"/>
                <a:sym typeface="Montserrat"/>
              </a:rPr>
              <a:t>Dampak signifik</a:t>
            </a:r>
            <a:r>
              <a:rPr lang="en-US" sz="2303" spc="-11">
                <a:solidFill>
                  <a:srgbClr val="F8F6F3"/>
                </a:solidFill>
                <a:latin typeface="Montserrat"/>
                <a:ea typeface="Montserrat"/>
                <a:cs typeface="Montserrat"/>
                <a:sym typeface="Montserrat"/>
              </a:rPr>
              <a:t>an juga dirasakan petani, pedagang, dan konsumen.</a:t>
            </a:r>
          </a:p>
          <a:p>
            <a:pPr algn="l" marL="497387" indent="-248693" lvl="1">
              <a:lnSpc>
                <a:spcPts val="3755"/>
              </a:lnSpc>
              <a:buFont typeface="Arial"/>
              <a:buChar char="•"/>
            </a:pPr>
            <a:r>
              <a:rPr lang="en-US" sz="2303" spc="-11">
                <a:solidFill>
                  <a:srgbClr val="F8F6F3"/>
                </a:solidFill>
                <a:latin typeface="Montserrat"/>
                <a:ea typeface="Montserrat"/>
                <a:cs typeface="Montserrat"/>
                <a:sym typeface="Montserrat"/>
              </a:rPr>
              <a:t>Diperlukan metode analisis yang mampu mengukur ketidakpastian harga.</a:t>
            </a:r>
          </a:p>
        </p:txBody>
      </p:sp>
      <p:sp>
        <p:nvSpPr>
          <p:cNvPr name="TextBox 24" id="24"/>
          <p:cNvSpPr txBox="true"/>
          <p:nvPr/>
        </p:nvSpPr>
        <p:spPr>
          <a:xfrm rot="0">
            <a:off x="1028700" y="818459"/>
            <a:ext cx="7427006" cy="642450"/>
          </a:xfrm>
          <a:prstGeom prst="rect">
            <a:avLst/>
          </a:prstGeom>
        </p:spPr>
        <p:txBody>
          <a:bodyPr anchor="t" rtlCol="false" tIns="0" lIns="0" bIns="0" rIns="0">
            <a:spAutoFit/>
          </a:bodyPr>
          <a:lstStyle/>
          <a:p>
            <a:pPr algn="ctr">
              <a:lnSpc>
                <a:spcPts val="5455"/>
              </a:lnSpc>
            </a:pPr>
            <a:r>
              <a:rPr lang="en-US" b="true" sz="3636" spc="-18">
                <a:solidFill>
                  <a:srgbClr val="F8F6F3"/>
                </a:solidFill>
                <a:latin typeface="Montserrat Bold"/>
                <a:ea typeface="Montserrat Bold"/>
                <a:cs typeface="Montserrat Bold"/>
                <a:sym typeface="Montserrat Bold"/>
              </a:rPr>
              <a:t>Permasalahan Utama</a:t>
            </a:r>
          </a:p>
        </p:txBody>
      </p:sp>
      <p:sp>
        <p:nvSpPr>
          <p:cNvPr name="TextBox 25" id="25"/>
          <p:cNvSpPr txBox="true"/>
          <p:nvPr/>
        </p:nvSpPr>
        <p:spPr>
          <a:xfrm rot="0">
            <a:off x="10577493" y="4568812"/>
            <a:ext cx="6181876" cy="642450"/>
          </a:xfrm>
          <a:prstGeom prst="rect">
            <a:avLst/>
          </a:prstGeom>
        </p:spPr>
        <p:txBody>
          <a:bodyPr anchor="t" rtlCol="false" tIns="0" lIns="0" bIns="0" rIns="0">
            <a:spAutoFit/>
          </a:bodyPr>
          <a:lstStyle/>
          <a:p>
            <a:pPr algn="ctr">
              <a:lnSpc>
                <a:spcPts val="5455"/>
              </a:lnSpc>
            </a:pPr>
            <a:r>
              <a:rPr lang="en-US" b="true" sz="3636" spc="-18">
                <a:solidFill>
                  <a:srgbClr val="F8F6F3"/>
                </a:solidFill>
                <a:latin typeface="Montserrat Bold"/>
                <a:ea typeface="Montserrat Bold"/>
                <a:cs typeface="Montserrat Bold"/>
                <a:sym typeface="Montserrat Bold"/>
              </a:rPr>
              <a:t>Rumusan Masalah</a:t>
            </a:r>
          </a:p>
        </p:txBody>
      </p:sp>
      <p:sp>
        <p:nvSpPr>
          <p:cNvPr name="TextBox 26" id="26"/>
          <p:cNvSpPr txBox="true"/>
          <p:nvPr/>
        </p:nvSpPr>
        <p:spPr>
          <a:xfrm rot="0">
            <a:off x="9889401" y="6322078"/>
            <a:ext cx="6998372" cy="2386654"/>
          </a:xfrm>
          <a:prstGeom prst="rect">
            <a:avLst/>
          </a:prstGeom>
        </p:spPr>
        <p:txBody>
          <a:bodyPr anchor="t" rtlCol="false" tIns="0" lIns="0" bIns="0" rIns="0">
            <a:spAutoFit/>
          </a:bodyPr>
          <a:lstStyle/>
          <a:p>
            <a:pPr algn="l" marL="591167" indent="-295584" lvl="1">
              <a:lnSpc>
                <a:spcPts val="3148"/>
              </a:lnSpc>
              <a:spcBef>
                <a:spcPct val="0"/>
              </a:spcBef>
              <a:buFont typeface="Arial"/>
              <a:buChar char="•"/>
            </a:pPr>
            <a:r>
              <a:rPr lang="en-US" sz="2738">
                <a:solidFill>
                  <a:srgbClr val="F8F6F3"/>
                </a:solidFill>
                <a:latin typeface="Montserrat"/>
                <a:ea typeface="Montserrat"/>
                <a:cs typeface="Montserrat"/>
                <a:sym typeface="Montserrat"/>
              </a:rPr>
              <a:t>B</a:t>
            </a:r>
            <a:r>
              <a:rPr lang="en-US" sz="2738">
                <a:solidFill>
                  <a:srgbClr val="F8F6F3"/>
                </a:solidFill>
                <a:latin typeface="Montserrat"/>
                <a:ea typeface="Montserrat"/>
                <a:cs typeface="Montserrat"/>
                <a:sym typeface="Montserrat"/>
              </a:rPr>
              <a:t>agaimana pola fluktuasi harga cabai merah besar di Lampung?</a:t>
            </a:r>
          </a:p>
          <a:p>
            <a:pPr algn="l" marL="591167" indent="-295584" lvl="1">
              <a:lnSpc>
                <a:spcPts val="3148"/>
              </a:lnSpc>
              <a:spcBef>
                <a:spcPct val="0"/>
              </a:spcBef>
              <a:buFont typeface="Arial"/>
              <a:buChar char="•"/>
            </a:pPr>
            <a:r>
              <a:rPr lang="en-US" sz="2738">
                <a:solidFill>
                  <a:srgbClr val="F8F6F3"/>
                </a:solidFill>
                <a:latin typeface="Montserrat"/>
                <a:ea typeface="Montserrat"/>
                <a:cs typeface="Montserrat"/>
                <a:sym typeface="Montserrat"/>
              </a:rPr>
              <a:t>Seberapa besar ketidakpastian harga berdasarkan bootstrap?</a:t>
            </a:r>
          </a:p>
          <a:p>
            <a:pPr algn="l" marL="591167" indent="-295584" lvl="1">
              <a:lnSpc>
                <a:spcPts val="3148"/>
              </a:lnSpc>
              <a:spcBef>
                <a:spcPct val="0"/>
              </a:spcBef>
              <a:buFont typeface="Arial"/>
              <a:buChar char="•"/>
            </a:pPr>
            <a:r>
              <a:rPr lang="en-US" sz="2738">
                <a:solidFill>
                  <a:srgbClr val="F8F6F3"/>
                </a:solidFill>
                <a:latin typeface="Montserrat"/>
                <a:ea typeface="Montserrat"/>
                <a:cs typeface="Montserrat"/>
                <a:sym typeface="Montserrat"/>
              </a:rPr>
              <a:t>Apa risiko ketidakstabilan yang ditunjukkan oleh hasil bootstrap?</a:t>
            </a:r>
          </a:p>
        </p:txBody>
      </p:sp>
      <p:sp>
        <p:nvSpPr>
          <p:cNvPr name="Freeform 27" id="27"/>
          <p:cNvSpPr/>
          <p:nvPr/>
        </p:nvSpPr>
        <p:spPr>
          <a:xfrm flipH="true" flipV="false" rot="0">
            <a:off x="3195772" y="8459398"/>
            <a:ext cx="1947519" cy="1285363"/>
          </a:xfrm>
          <a:custGeom>
            <a:avLst/>
            <a:gdLst/>
            <a:ahLst/>
            <a:cxnLst/>
            <a:rect r="r" b="b" t="t" l="l"/>
            <a:pathLst>
              <a:path h="1285363" w="1947519">
                <a:moveTo>
                  <a:pt x="1947519" y="0"/>
                </a:moveTo>
                <a:lnTo>
                  <a:pt x="0" y="0"/>
                </a:lnTo>
                <a:lnTo>
                  <a:pt x="0" y="1285363"/>
                </a:lnTo>
                <a:lnTo>
                  <a:pt x="1947519" y="1285363"/>
                </a:lnTo>
                <a:lnTo>
                  <a:pt x="1947519"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8" id="28"/>
          <p:cNvSpPr/>
          <p:nvPr/>
        </p:nvSpPr>
        <p:spPr>
          <a:xfrm flipH="true" flipV="false" rot="0">
            <a:off x="2222012" y="8599094"/>
            <a:ext cx="1947519" cy="1285363"/>
          </a:xfrm>
          <a:custGeom>
            <a:avLst/>
            <a:gdLst/>
            <a:ahLst/>
            <a:cxnLst/>
            <a:rect r="r" b="b" t="t" l="l"/>
            <a:pathLst>
              <a:path h="1285363" w="1947519">
                <a:moveTo>
                  <a:pt x="1947520" y="0"/>
                </a:moveTo>
                <a:lnTo>
                  <a:pt x="0" y="0"/>
                </a:lnTo>
                <a:lnTo>
                  <a:pt x="0" y="1285363"/>
                </a:lnTo>
                <a:lnTo>
                  <a:pt x="1947520" y="1285363"/>
                </a:lnTo>
                <a:lnTo>
                  <a:pt x="194752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transition spd="slow">
    <p:wipe dir="r"/>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6F3"/>
        </a:solidFill>
      </p:bgPr>
    </p:bg>
    <p:spTree>
      <p:nvGrpSpPr>
        <p:cNvPr id="1" name=""/>
        <p:cNvGrpSpPr/>
        <p:nvPr/>
      </p:nvGrpSpPr>
      <p:grpSpPr>
        <a:xfrm>
          <a:off x="0" y="0"/>
          <a:ext cx="0" cy="0"/>
          <a:chOff x="0" y="0"/>
          <a:chExt cx="0" cy="0"/>
        </a:xfrm>
      </p:grpSpPr>
      <p:grpSp>
        <p:nvGrpSpPr>
          <p:cNvPr name="Group 2" id="2"/>
          <p:cNvGrpSpPr/>
          <p:nvPr/>
        </p:nvGrpSpPr>
        <p:grpSpPr>
          <a:xfrm rot="0">
            <a:off x="10689703" y="579759"/>
            <a:ext cx="7218438" cy="897881"/>
            <a:chOff x="0" y="0"/>
            <a:chExt cx="2506171" cy="311736"/>
          </a:xfrm>
        </p:grpSpPr>
        <p:sp>
          <p:nvSpPr>
            <p:cNvPr name="Freeform 3" id="3"/>
            <p:cNvSpPr/>
            <p:nvPr/>
          </p:nvSpPr>
          <p:spPr>
            <a:xfrm flipH="false" flipV="false" rot="0">
              <a:off x="0" y="0"/>
              <a:ext cx="2506171" cy="311736"/>
            </a:xfrm>
            <a:custGeom>
              <a:avLst/>
              <a:gdLst/>
              <a:ahLst/>
              <a:cxnLst/>
              <a:rect r="r" b="b" t="t" l="l"/>
              <a:pathLst>
                <a:path h="311736" w="2506171">
                  <a:moveTo>
                    <a:pt x="30031" y="0"/>
                  </a:moveTo>
                  <a:lnTo>
                    <a:pt x="2476141" y="0"/>
                  </a:lnTo>
                  <a:cubicBezTo>
                    <a:pt x="2484105" y="0"/>
                    <a:pt x="2491744" y="3164"/>
                    <a:pt x="2497375" y="8796"/>
                  </a:cubicBezTo>
                  <a:cubicBezTo>
                    <a:pt x="2503007" y="14428"/>
                    <a:pt x="2506171" y="22066"/>
                    <a:pt x="2506171" y="30031"/>
                  </a:cubicBezTo>
                  <a:lnTo>
                    <a:pt x="2506171" y="281705"/>
                  </a:lnTo>
                  <a:cubicBezTo>
                    <a:pt x="2506171" y="289670"/>
                    <a:pt x="2503007" y="297308"/>
                    <a:pt x="2497375" y="302940"/>
                  </a:cubicBezTo>
                  <a:cubicBezTo>
                    <a:pt x="2491744" y="308572"/>
                    <a:pt x="2484105" y="311736"/>
                    <a:pt x="2476141" y="311736"/>
                  </a:cubicBezTo>
                  <a:lnTo>
                    <a:pt x="30031" y="311736"/>
                  </a:lnTo>
                  <a:cubicBezTo>
                    <a:pt x="22066" y="311736"/>
                    <a:pt x="14428" y="308572"/>
                    <a:pt x="8796" y="302940"/>
                  </a:cubicBezTo>
                  <a:cubicBezTo>
                    <a:pt x="3164" y="297308"/>
                    <a:pt x="0" y="289670"/>
                    <a:pt x="0" y="281705"/>
                  </a:cubicBezTo>
                  <a:lnTo>
                    <a:pt x="0" y="30031"/>
                  </a:lnTo>
                  <a:cubicBezTo>
                    <a:pt x="0" y="22066"/>
                    <a:pt x="3164" y="14428"/>
                    <a:pt x="8796" y="8796"/>
                  </a:cubicBezTo>
                  <a:cubicBezTo>
                    <a:pt x="14428" y="3164"/>
                    <a:pt x="22066" y="0"/>
                    <a:pt x="30031" y="0"/>
                  </a:cubicBezTo>
                  <a:close/>
                </a:path>
              </a:pathLst>
            </a:custGeom>
            <a:solidFill>
              <a:srgbClr val="D12324"/>
            </a:solidFill>
          </p:spPr>
        </p:sp>
        <p:sp>
          <p:nvSpPr>
            <p:cNvPr name="TextBox 4" id="4"/>
            <p:cNvSpPr txBox="true"/>
            <p:nvPr/>
          </p:nvSpPr>
          <p:spPr>
            <a:xfrm>
              <a:off x="0" y="19050"/>
              <a:ext cx="2506171" cy="292686"/>
            </a:xfrm>
            <a:prstGeom prst="rect">
              <a:avLst/>
            </a:prstGeom>
          </p:spPr>
          <p:txBody>
            <a:bodyPr anchor="ctr" rtlCol="false" tIns="50800" lIns="50800" bIns="50800" rIns="50800"/>
            <a:lstStyle/>
            <a:p>
              <a:pPr algn="ctr">
                <a:lnSpc>
                  <a:spcPts val="2299"/>
                </a:lnSpc>
              </a:pPr>
            </a:p>
          </p:txBody>
        </p:sp>
      </p:grpSp>
      <p:sp>
        <p:nvSpPr>
          <p:cNvPr name="Freeform 5" id="5"/>
          <p:cNvSpPr/>
          <p:nvPr/>
        </p:nvSpPr>
        <p:spPr>
          <a:xfrm flipH="false" flipV="false" rot="0">
            <a:off x="9986198" y="279529"/>
            <a:ext cx="514589" cy="514589"/>
          </a:xfrm>
          <a:custGeom>
            <a:avLst/>
            <a:gdLst/>
            <a:ahLst/>
            <a:cxnLst/>
            <a:rect r="r" b="b" t="t" l="l"/>
            <a:pathLst>
              <a:path h="514589" w="514589">
                <a:moveTo>
                  <a:pt x="0" y="0"/>
                </a:moveTo>
                <a:lnTo>
                  <a:pt x="514589" y="0"/>
                </a:lnTo>
                <a:lnTo>
                  <a:pt x="514589" y="514589"/>
                </a:lnTo>
                <a:lnTo>
                  <a:pt x="0" y="514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212596" y="2826939"/>
            <a:ext cx="8406660" cy="912558"/>
            <a:chOff x="0" y="0"/>
            <a:chExt cx="2807784" cy="304790"/>
          </a:xfrm>
        </p:grpSpPr>
        <p:sp>
          <p:nvSpPr>
            <p:cNvPr name="Freeform 7" id="7"/>
            <p:cNvSpPr/>
            <p:nvPr/>
          </p:nvSpPr>
          <p:spPr>
            <a:xfrm flipH="false" flipV="false" rot="0">
              <a:off x="0" y="0"/>
              <a:ext cx="2807784" cy="304790"/>
            </a:xfrm>
            <a:custGeom>
              <a:avLst/>
              <a:gdLst/>
              <a:ahLst/>
              <a:cxnLst/>
              <a:rect r="r" b="b" t="t" l="l"/>
              <a:pathLst>
                <a:path h="304790" w="2807784">
                  <a:moveTo>
                    <a:pt x="25786" y="0"/>
                  </a:moveTo>
                  <a:lnTo>
                    <a:pt x="2781998" y="0"/>
                  </a:lnTo>
                  <a:cubicBezTo>
                    <a:pt x="2796239" y="0"/>
                    <a:pt x="2807784" y="11545"/>
                    <a:pt x="2807784" y="25786"/>
                  </a:cubicBezTo>
                  <a:lnTo>
                    <a:pt x="2807784" y="279004"/>
                  </a:lnTo>
                  <a:cubicBezTo>
                    <a:pt x="2807784" y="285843"/>
                    <a:pt x="2805068" y="292402"/>
                    <a:pt x="2800232" y="297237"/>
                  </a:cubicBezTo>
                  <a:cubicBezTo>
                    <a:pt x="2795396" y="302073"/>
                    <a:pt x="2788837" y="304790"/>
                    <a:pt x="2781998" y="304790"/>
                  </a:cubicBezTo>
                  <a:lnTo>
                    <a:pt x="25786" y="304790"/>
                  </a:lnTo>
                  <a:cubicBezTo>
                    <a:pt x="18947" y="304790"/>
                    <a:pt x="12388" y="302073"/>
                    <a:pt x="7553" y="297237"/>
                  </a:cubicBezTo>
                  <a:cubicBezTo>
                    <a:pt x="2717" y="292402"/>
                    <a:pt x="0" y="285843"/>
                    <a:pt x="0" y="279004"/>
                  </a:cubicBezTo>
                  <a:lnTo>
                    <a:pt x="0" y="25786"/>
                  </a:lnTo>
                  <a:cubicBezTo>
                    <a:pt x="0" y="18947"/>
                    <a:pt x="2717" y="12388"/>
                    <a:pt x="7553" y="7553"/>
                  </a:cubicBezTo>
                  <a:cubicBezTo>
                    <a:pt x="12388" y="2717"/>
                    <a:pt x="18947" y="0"/>
                    <a:pt x="25786" y="0"/>
                  </a:cubicBezTo>
                  <a:close/>
                </a:path>
              </a:pathLst>
            </a:custGeom>
            <a:solidFill>
              <a:srgbClr val="D12324"/>
            </a:solidFill>
          </p:spPr>
        </p:sp>
        <p:sp>
          <p:nvSpPr>
            <p:cNvPr name="TextBox 8" id="8"/>
            <p:cNvSpPr txBox="true"/>
            <p:nvPr/>
          </p:nvSpPr>
          <p:spPr>
            <a:xfrm>
              <a:off x="0" y="19050"/>
              <a:ext cx="2807784" cy="285740"/>
            </a:xfrm>
            <a:prstGeom prst="rect">
              <a:avLst/>
            </a:prstGeom>
          </p:spPr>
          <p:txBody>
            <a:bodyPr anchor="ctr" rtlCol="false" tIns="50800" lIns="50800" bIns="50800" rIns="50800"/>
            <a:lstStyle/>
            <a:p>
              <a:pPr algn="ctr">
                <a:lnSpc>
                  <a:spcPts val="2299"/>
                </a:lnSpc>
              </a:pPr>
            </a:p>
          </p:txBody>
        </p:sp>
      </p:grpSp>
      <p:grpSp>
        <p:nvGrpSpPr>
          <p:cNvPr name="Group 9" id="9"/>
          <p:cNvGrpSpPr/>
          <p:nvPr/>
        </p:nvGrpSpPr>
        <p:grpSpPr>
          <a:xfrm rot="0">
            <a:off x="212596" y="3948128"/>
            <a:ext cx="11032867" cy="4969638"/>
            <a:chOff x="0" y="0"/>
            <a:chExt cx="14710489" cy="6626184"/>
          </a:xfrm>
        </p:grpSpPr>
        <p:grpSp>
          <p:nvGrpSpPr>
            <p:cNvPr name="Group 10" id="10"/>
            <p:cNvGrpSpPr/>
            <p:nvPr/>
          </p:nvGrpSpPr>
          <p:grpSpPr>
            <a:xfrm rot="0">
              <a:off x="0" y="0"/>
              <a:ext cx="14710489" cy="6626184"/>
              <a:chOff x="0" y="0"/>
              <a:chExt cx="2905776" cy="1308876"/>
            </a:xfrm>
          </p:grpSpPr>
          <p:sp>
            <p:nvSpPr>
              <p:cNvPr name="Freeform 11" id="11"/>
              <p:cNvSpPr/>
              <p:nvPr/>
            </p:nvSpPr>
            <p:spPr>
              <a:xfrm flipH="false" flipV="false" rot="0">
                <a:off x="0" y="0"/>
                <a:ext cx="2905776" cy="1308876"/>
              </a:xfrm>
              <a:custGeom>
                <a:avLst/>
                <a:gdLst/>
                <a:ahLst/>
                <a:cxnLst/>
                <a:rect r="r" b="b" t="t" l="l"/>
                <a:pathLst>
                  <a:path h="1308876" w="2905776">
                    <a:moveTo>
                      <a:pt x="19648" y="0"/>
                    </a:moveTo>
                    <a:lnTo>
                      <a:pt x="2886128" y="0"/>
                    </a:lnTo>
                    <a:cubicBezTo>
                      <a:pt x="2896979" y="0"/>
                      <a:pt x="2905776" y="8797"/>
                      <a:pt x="2905776" y="19648"/>
                    </a:cubicBezTo>
                    <a:lnTo>
                      <a:pt x="2905776" y="1289228"/>
                    </a:lnTo>
                    <a:cubicBezTo>
                      <a:pt x="2905776" y="1300079"/>
                      <a:pt x="2896979" y="1308876"/>
                      <a:pt x="2886128" y="1308876"/>
                    </a:cubicBezTo>
                    <a:lnTo>
                      <a:pt x="19648" y="1308876"/>
                    </a:lnTo>
                    <a:cubicBezTo>
                      <a:pt x="8797" y="1308876"/>
                      <a:pt x="0" y="1300079"/>
                      <a:pt x="0" y="1289228"/>
                    </a:cubicBezTo>
                    <a:lnTo>
                      <a:pt x="0" y="19648"/>
                    </a:lnTo>
                    <a:cubicBezTo>
                      <a:pt x="0" y="8797"/>
                      <a:pt x="8797" y="0"/>
                      <a:pt x="19648" y="0"/>
                    </a:cubicBezTo>
                    <a:close/>
                  </a:path>
                </a:pathLst>
              </a:custGeom>
              <a:solidFill>
                <a:srgbClr val="F2D6AA"/>
              </a:solidFill>
            </p:spPr>
          </p:sp>
          <p:sp>
            <p:nvSpPr>
              <p:cNvPr name="TextBox 12" id="12"/>
              <p:cNvSpPr txBox="true"/>
              <p:nvPr/>
            </p:nvSpPr>
            <p:spPr>
              <a:xfrm>
                <a:off x="0" y="19050"/>
                <a:ext cx="2905776" cy="1289826"/>
              </a:xfrm>
              <a:prstGeom prst="rect">
                <a:avLst/>
              </a:prstGeom>
            </p:spPr>
            <p:txBody>
              <a:bodyPr anchor="ctr" rtlCol="false" tIns="50800" lIns="50800" bIns="50800" rIns="50800"/>
              <a:lstStyle/>
              <a:p>
                <a:pPr algn="ctr">
                  <a:lnSpc>
                    <a:spcPts val="2299"/>
                  </a:lnSpc>
                </a:pPr>
              </a:p>
            </p:txBody>
          </p:sp>
        </p:grpSp>
        <p:sp>
          <p:nvSpPr>
            <p:cNvPr name="TextBox 13" id="13"/>
            <p:cNvSpPr txBox="true"/>
            <p:nvPr/>
          </p:nvSpPr>
          <p:spPr>
            <a:xfrm rot="0">
              <a:off x="237078" y="503786"/>
              <a:ext cx="4002925" cy="5624413"/>
            </a:xfrm>
            <a:prstGeom prst="rect">
              <a:avLst/>
            </a:prstGeom>
          </p:spPr>
          <p:txBody>
            <a:bodyPr anchor="t" rtlCol="false" tIns="0" lIns="0" bIns="0" rIns="0">
              <a:spAutoFit/>
            </a:bodyPr>
            <a:lstStyle/>
            <a:p>
              <a:pPr algn="l">
                <a:lnSpc>
                  <a:spcPts val="2580"/>
                </a:lnSpc>
              </a:pPr>
              <a:r>
                <a:rPr lang="en-US" sz="2303" spc="-11" b="true">
                  <a:solidFill>
                    <a:srgbClr val="000000"/>
                  </a:solidFill>
                  <a:latin typeface="Montserrat Bold"/>
                  <a:ea typeface="Montserrat Bold"/>
                  <a:cs typeface="Montserrat Bold"/>
                  <a:sym typeface="Montserrat Bold"/>
                </a:rPr>
                <a:t>Variabel</a:t>
              </a: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Harga harian</a:t>
              </a:r>
            </a:p>
            <a:p>
              <a:pPr algn="l">
                <a:lnSpc>
                  <a:spcPts val="2580"/>
                </a:lnSpc>
              </a:pP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Perubahan </a:t>
              </a:r>
            </a:p>
            <a:p>
              <a:pPr algn="l">
                <a:lnSpc>
                  <a:spcPts val="2580"/>
                </a:lnSpc>
              </a:pPr>
              <a:r>
                <a:rPr lang="en-US" sz="2303" spc="-11" b="true">
                  <a:solidFill>
                    <a:srgbClr val="000000"/>
                  </a:solidFill>
                  <a:latin typeface="Montserrat Bold"/>
                  <a:ea typeface="Montserrat Bold"/>
                  <a:cs typeface="Montserrat Bold"/>
                  <a:sym typeface="Montserrat Bold"/>
                </a:rPr>
                <a:t>harga (ΔHarga)</a:t>
              </a:r>
            </a:p>
            <a:p>
              <a:pPr algn="l">
                <a:lnSpc>
                  <a:spcPts val="2580"/>
                </a:lnSpc>
              </a:pP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Mean Bootstrap</a:t>
              </a: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Confidence Interval</a:t>
              </a:r>
            </a:p>
            <a:p>
              <a:pPr algn="l">
                <a:lnSpc>
                  <a:spcPts val="2580"/>
                </a:lnSpc>
              </a:pPr>
              <a:r>
                <a:rPr lang="en-US" sz="2303" spc="-11" b="true">
                  <a:solidFill>
                    <a:srgbClr val="000000"/>
                  </a:solidFill>
                  <a:latin typeface="Montserrat Bold"/>
                  <a:ea typeface="Montserrat Bold"/>
                  <a:cs typeface="Montserrat Bold"/>
                  <a:sym typeface="Montserrat Bold"/>
                </a:rPr>
                <a:t>Bootsrap</a:t>
              </a:r>
            </a:p>
          </p:txBody>
        </p:sp>
        <p:sp>
          <p:nvSpPr>
            <p:cNvPr name="TextBox 14" id="14"/>
            <p:cNvSpPr txBox="true"/>
            <p:nvPr/>
          </p:nvSpPr>
          <p:spPr>
            <a:xfrm rot="0">
              <a:off x="4819541" y="503786"/>
              <a:ext cx="4667346" cy="5624413"/>
            </a:xfrm>
            <a:prstGeom prst="rect">
              <a:avLst/>
            </a:prstGeom>
          </p:spPr>
          <p:txBody>
            <a:bodyPr anchor="t" rtlCol="false" tIns="0" lIns="0" bIns="0" rIns="0">
              <a:spAutoFit/>
            </a:bodyPr>
            <a:lstStyle/>
            <a:p>
              <a:pPr algn="l">
                <a:lnSpc>
                  <a:spcPts val="2580"/>
                </a:lnSpc>
              </a:pPr>
              <a:r>
                <a:rPr lang="en-US" sz="2303" spc="-11" b="true">
                  <a:solidFill>
                    <a:srgbClr val="000000"/>
                  </a:solidFill>
                  <a:latin typeface="Montserrat Bold"/>
                  <a:ea typeface="Montserrat Bold"/>
                  <a:cs typeface="Montserrat Bold"/>
                  <a:sym typeface="Montserrat Bold"/>
                </a:rPr>
                <a:t>Definisi</a:t>
              </a: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Harga cabai merah besar per hari </a:t>
              </a: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Selisih harga antarhari</a:t>
              </a:r>
            </a:p>
            <a:p>
              <a:pPr algn="l">
                <a:lnSpc>
                  <a:spcPts val="2580"/>
                </a:lnSpc>
              </a:pP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Estimasi rata-rata melalui resampling</a:t>
              </a: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Interval kepercayaan</a:t>
              </a:r>
            </a:p>
            <a:p>
              <a:pPr algn="l">
                <a:lnSpc>
                  <a:spcPts val="2580"/>
                </a:lnSpc>
              </a:pPr>
              <a:r>
                <a:rPr lang="en-US" sz="2303" spc="-11" b="true">
                  <a:solidFill>
                    <a:srgbClr val="000000"/>
                  </a:solidFill>
                  <a:latin typeface="Montserrat Bold"/>
                  <a:ea typeface="Montserrat Bold"/>
                  <a:cs typeface="Montserrat Bold"/>
                  <a:sym typeface="Montserrat Bold"/>
                </a:rPr>
                <a:t>rata-rata bootstrap</a:t>
              </a:r>
            </a:p>
          </p:txBody>
        </p:sp>
        <p:sp>
          <p:nvSpPr>
            <p:cNvPr name="TextBox 15" id="15"/>
            <p:cNvSpPr txBox="true"/>
            <p:nvPr/>
          </p:nvSpPr>
          <p:spPr>
            <a:xfrm rot="0">
              <a:off x="9739281" y="503786"/>
              <a:ext cx="4667346" cy="5192702"/>
            </a:xfrm>
            <a:prstGeom prst="rect">
              <a:avLst/>
            </a:prstGeom>
          </p:spPr>
          <p:txBody>
            <a:bodyPr anchor="t" rtlCol="false" tIns="0" lIns="0" bIns="0" rIns="0">
              <a:spAutoFit/>
            </a:bodyPr>
            <a:lstStyle/>
            <a:p>
              <a:pPr algn="l">
                <a:lnSpc>
                  <a:spcPts val="2580"/>
                </a:lnSpc>
              </a:pPr>
              <a:r>
                <a:rPr lang="en-US" sz="2303" spc="-11" b="true">
                  <a:solidFill>
                    <a:srgbClr val="000000"/>
                  </a:solidFill>
                  <a:latin typeface="Montserrat Bold"/>
                  <a:ea typeface="Montserrat Bold"/>
                  <a:cs typeface="Montserrat Bold"/>
                  <a:sym typeface="Montserrat Bold"/>
                </a:rPr>
                <a:t>Cara Pengukuran</a:t>
              </a: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Mengambil nilai asli (Rp/kg)</a:t>
              </a: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ΔHarga = </a:t>
              </a:r>
            </a:p>
            <a:p>
              <a:pPr algn="l">
                <a:lnSpc>
                  <a:spcPts val="2580"/>
                </a:lnSpc>
              </a:pPr>
              <a:r>
                <a:rPr lang="en-US" sz="2303" spc="-11" b="true">
                  <a:solidFill>
                    <a:srgbClr val="000000"/>
                  </a:solidFill>
                  <a:latin typeface="Montserrat Bold"/>
                  <a:ea typeface="Montserrat Bold"/>
                  <a:cs typeface="Montserrat Bold"/>
                  <a:sym typeface="Montserrat Bold"/>
                </a:rPr>
                <a:t>Hargaₜ − Hargaₜ₋₁</a:t>
              </a: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Resampling acak 1000 kali</a:t>
              </a:r>
            </a:p>
            <a:p>
              <a:pPr algn="l">
                <a:lnSpc>
                  <a:spcPts val="2580"/>
                </a:lnSpc>
              </a:pPr>
            </a:p>
            <a:p>
              <a:pPr algn="l">
                <a:lnSpc>
                  <a:spcPts val="2580"/>
                </a:lnSpc>
              </a:pPr>
              <a:r>
                <a:rPr lang="en-US" sz="2303" spc="-11" b="true">
                  <a:solidFill>
                    <a:srgbClr val="000000"/>
                  </a:solidFill>
                  <a:latin typeface="Montserrat Bold"/>
                  <a:ea typeface="Montserrat Bold"/>
                  <a:cs typeface="Montserrat Bold"/>
                  <a:sym typeface="Montserrat Bold"/>
                </a:rPr>
                <a:t>Kuantil 2.5% - 97.5%</a:t>
              </a:r>
            </a:p>
          </p:txBody>
        </p:sp>
        <p:sp>
          <p:nvSpPr>
            <p:cNvPr name="AutoShape 16" id="16"/>
            <p:cNvSpPr/>
            <p:nvPr/>
          </p:nvSpPr>
          <p:spPr>
            <a:xfrm>
              <a:off x="237078" y="1161309"/>
              <a:ext cx="13712956" cy="0"/>
            </a:xfrm>
            <a:prstGeom prst="line">
              <a:avLst/>
            </a:prstGeom>
            <a:ln cap="flat" w="50800">
              <a:solidFill>
                <a:srgbClr val="931616"/>
              </a:solidFill>
              <a:prstDash val="solid"/>
              <a:headEnd type="none" len="sm" w="sm"/>
              <a:tailEnd type="none" len="sm" w="sm"/>
            </a:ln>
          </p:spPr>
        </p:sp>
        <p:sp>
          <p:nvSpPr>
            <p:cNvPr name="AutoShape 17" id="17"/>
            <p:cNvSpPr/>
            <p:nvPr/>
          </p:nvSpPr>
          <p:spPr>
            <a:xfrm flipV="true">
              <a:off x="4540142" y="430515"/>
              <a:ext cx="0" cy="5886868"/>
            </a:xfrm>
            <a:prstGeom prst="line">
              <a:avLst/>
            </a:prstGeom>
            <a:ln cap="flat" w="50800">
              <a:solidFill>
                <a:srgbClr val="931616"/>
              </a:solidFill>
              <a:prstDash val="solid"/>
              <a:headEnd type="none" len="sm" w="sm"/>
              <a:tailEnd type="none" len="sm" w="sm"/>
            </a:ln>
          </p:spPr>
        </p:sp>
        <p:sp>
          <p:nvSpPr>
            <p:cNvPr name="AutoShape 18" id="18"/>
            <p:cNvSpPr/>
            <p:nvPr/>
          </p:nvSpPr>
          <p:spPr>
            <a:xfrm flipV="true">
              <a:off x="9461488" y="369658"/>
              <a:ext cx="0" cy="5886868"/>
            </a:xfrm>
            <a:prstGeom prst="line">
              <a:avLst/>
            </a:prstGeom>
            <a:ln cap="flat" w="50800">
              <a:solidFill>
                <a:srgbClr val="931616"/>
              </a:solidFill>
              <a:prstDash val="solid"/>
              <a:headEnd type="none" len="sm" w="sm"/>
              <a:tailEnd type="none" len="sm" w="sm"/>
            </a:ln>
          </p:spPr>
        </p:sp>
      </p:grpSp>
      <p:sp>
        <p:nvSpPr>
          <p:cNvPr name="TextBox 19" id="19"/>
          <p:cNvSpPr txBox="true"/>
          <p:nvPr/>
        </p:nvSpPr>
        <p:spPr>
          <a:xfrm rot="0">
            <a:off x="10689703" y="1588234"/>
            <a:ext cx="7170887" cy="1694984"/>
          </a:xfrm>
          <a:prstGeom prst="rect">
            <a:avLst/>
          </a:prstGeom>
        </p:spPr>
        <p:txBody>
          <a:bodyPr anchor="t" rtlCol="false" tIns="0" lIns="0" bIns="0" rIns="0">
            <a:spAutoFit/>
          </a:bodyPr>
          <a:lstStyle/>
          <a:p>
            <a:pPr algn="just" marL="488414" indent="-244207" lvl="1">
              <a:lnSpc>
                <a:spcPts val="3393"/>
              </a:lnSpc>
              <a:buFont typeface="Arial"/>
              <a:buChar char="•"/>
            </a:pPr>
            <a:r>
              <a:rPr lang="en-US" b="true" sz="2262" spc="-11">
                <a:solidFill>
                  <a:srgbClr val="752833"/>
                </a:solidFill>
                <a:latin typeface="Montserrat Bold"/>
                <a:ea typeface="Montserrat Bold"/>
                <a:cs typeface="Montserrat Bold"/>
                <a:sym typeface="Montserrat Bold"/>
              </a:rPr>
              <a:t>Data Kuantitatif</a:t>
            </a:r>
          </a:p>
          <a:p>
            <a:pPr algn="just" marL="488414" indent="-244207" lvl="1">
              <a:lnSpc>
                <a:spcPts val="3393"/>
              </a:lnSpc>
              <a:buFont typeface="Arial"/>
              <a:buChar char="•"/>
            </a:pPr>
            <a:r>
              <a:rPr lang="en-US" b="true" sz="2262" spc="-11">
                <a:solidFill>
                  <a:srgbClr val="752833"/>
                </a:solidFill>
                <a:latin typeface="Montserrat Bold"/>
                <a:ea typeface="Montserrat Bold"/>
                <a:cs typeface="Montserrat Bold"/>
                <a:sym typeface="Montserrat Bold"/>
              </a:rPr>
              <a:t>Harga harian cabai merah besar (PIHPS Nasional) periode: Juli – awal Oktober</a:t>
            </a:r>
          </a:p>
          <a:p>
            <a:pPr algn="just" marL="488414" indent="-244207" lvl="1">
              <a:lnSpc>
                <a:spcPts val="3393"/>
              </a:lnSpc>
              <a:buFont typeface="Arial"/>
              <a:buChar char="•"/>
            </a:pPr>
            <a:r>
              <a:rPr lang="en-US" b="true" sz="2262" spc="-11">
                <a:solidFill>
                  <a:srgbClr val="752833"/>
                </a:solidFill>
                <a:latin typeface="Montserrat Bold"/>
                <a:ea typeface="Montserrat Bold"/>
                <a:cs typeface="Montserrat Bold"/>
                <a:sym typeface="Montserrat Bold"/>
              </a:rPr>
              <a:t>93 observasi</a:t>
            </a:r>
          </a:p>
        </p:txBody>
      </p:sp>
      <p:sp>
        <p:nvSpPr>
          <p:cNvPr name="TextBox 20" id="20"/>
          <p:cNvSpPr txBox="true"/>
          <p:nvPr/>
        </p:nvSpPr>
        <p:spPr>
          <a:xfrm rot="0">
            <a:off x="11135913" y="1072947"/>
            <a:ext cx="6260036" cy="372095"/>
          </a:xfrm>
          <a:prstGeom prst="rect">
            <a:avLst/>
          </a:prstGeom>
        </p:spPr>
        <p:txBody>
          <a:bodyPr anchor="t" rtlCol="false" tIns="0" lIns="0" bIns="0" rIns="0">
            <a:spAutoFit/>
          </a:bodyPr>
          <a:lstStyle/>
          <a:p>
            <a:pPr algn="l">
              <a:lnSpc>
                <a:spcPts val="2199"/>
              </a:lnSpc>
            </a:pPr>
            <a:r>
              <a:rPr lang="en-US" sz="4399" spc="-140">
                <a:solidFill>
                  <a:srgbClr val="FBEFE4"/>
                </a:solidFill>
                <a:latin typeface="League Spartan"/>
                <a:ea typeface="League Spartan"/>
                <a:cs typeface="League Spartan"/>
                <a:sym typeface="League Spartan"/>
              </a:rPr>
              <a:t>JENIS &amp; SUMBER DATA </a:t>
            </a:r>
          </a:p>
        </p:txBody>
      </p:sp>
      <p:sp>
        <p:nvSpPr>
          <p:cNvPr name="TextBox 21" id="21"/>
          <p:cNvSpPr txBox="true"/>
          <p:nvPr/>
        </p:nvSpPr>
        <p:spPr>
          <a:xfrm rot="0">
            <a:off x="1102199" y="3075369"/>
            <a:ext cx="6414857" cy="626548"/>
          </a:xfrm>
          <a:prstGeom prst="rect">
            <a:avLst/>
          </a:prstGeom>
        </p:spPr>
        <p:txBody>
          <a:bodyPr anchor="t" rtlCol="false" tIns="0" lIns="0" bIns="0" rIns="0">
            <a:spAutoFit/>
          </a:bodyPr>
          <a:lstStyle/>
          <a:p>
            <a:pPr algn="just">
              <a:lnSpc>
                <a:spcPts val="4806"/>
              </a:lnSpc>
            </a:pPr>
            <a:r>
              <a:rPr lang="en-US" sz="4179" spc="-133">
                <a:solidFill>
                  <a:srgbClr val="FBEFE4"/>
                </a:solidFill>
                <a:latin typeface="League Spartan"/>
                <a:ea typeface="League Spartan"/>
                <a:cs typeface="League Spartan"/>
                <a:sym typeface="League Spartan"/>
              </a:rPr>
              <a:t>VARIABEL PENELITIAN</a:t>
            </a:r>
          </a:p>
        </p:txBody>
      </p:sp>
      <p:sp>
        <p:nvSpPr>
          <p:cNvPr name="Freeform 22" id="22"/>
          <p:cNvSpPr/>
          <p:nvPr/>
        </p:nvSpPr>
        <p:spPr>
          <a:xfrm flipH="false" flipV="false" rot="0">
            <a:off x="12642786" y="5510951"/>
            <a:ext cx="5038802" cy="4114800"/>
          </a:xfrm>
          <a:custGeom>
            <a:avLst/>
            <a:gdLst/>
            <a:ahLst/>
            <a:cxnLst/>
            <a:rect r="r" b="b" t="t" l="l"/>
            <a:pathLst>
              <a:path h="4114800" w="5038802">
                <a:moveTo>
                  <a:pt x="0" y="0"/>
                </a:moveTo>
                <a:lnTo>
                  <a:pt x="5038802" y="0"/>
                </a:lnTo>
                <a:lnTo>
                  <a:pt x="503880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4286187">
            <a:off x="16455697" y="4927255"/>
            <a:ext cx="908115" cy="432490"/>
          </a:xfrm>
          <a:custGeom>
            <a:avLst/>
            <a:gdLst/>
            <a:ahLst/>
            <a:cxnLst/>
            <a:rect r="r" b="b" t="t" l="l"/>
            <a:pathLst>
              <a:path h="432490" w="908115">
                <a:moveTo>
                  <a:pt x="0" y="0"/>
                </a:moveTo>
                <a:lnTo>
                  <a:pt x="908115" y="0"/>
                </a:lnTo>
                <a:lnTo>
                  <a:pt x="908115" y="432490"/>
                </a:lnTo>
                <a:lnTo>
                  <a:pt x="0" y="4324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1247149">
            <a:off x="15159483" y="4427979"/>
            <a:ext cx="908115" cy="432490"/>
          </a:xfrm>
          <a:custGeom>
            <a:avLst/>
            <a:gdLst/>
            <a:ahLst/>
            <a:cxnLst/>
            <a:rect r="r" b="b" t="t" l="l"/>
            <a:pathLst>
              <a:path h="432490" w="908115">
                <a:moveTo>
                  <a:pt x="0" y="0"/>
                </a:moveTo>
                <a:lnTo>
                  <a:pt x="908115" y="0"/>
                </a:lnTo>
                <a:lnTo>
                  <a:pt x="908115" y="432490"/>
                </a:lnTo>
                <a:lnTo>
                  <a:pt x="0" y="4324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8361962" y="2469064"/>
            <a:ext cx="514589" cy="514589"/>
          </a:xfrm>
          <a:custGeom>
            <a:avLst/>
            <a:gdLst/>
            <a:ahLst/>
            <a:cxnLst/>
            <a:rect r="r" b="b" t="t" l="l"/>
            <a:pathLst>
              <a:path h="514589" w="514589">
                <a:moveTo>
                  <a:pt x="0" y="0"/>
                </a:moveTo>
                <a:lnTo>
                  <a:pt x="514589" y="0"/>
                </a:lnTo>
                <a:lnTo>
                  <a:pt x="514589" y="514589"/>
                </a:lnTo>
                <a:lnTo>
                  <a:pt x="0" y="514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6" id="26"/>
          <p:cNvSpPr/>
          <p:nvPr/>
        </p:nvSpPr>
        <p:spPr>
          <a:xfrm flipH="false" flipV="false" rot="0">
            <a:off x="514111" y="613181"/>
            <a:ext cx="514589" cy="514589"/>
          </a:xfrm>
          <a:custGeom>
            <a:avLst/>
            <a:gdLst/>
            <a:ahLst/>
            <a:cxnLst/>
            <a:rect r="r" b="b" t="t" l="l"/>
            <a:pathLst>
              <a:path h="514589" w="514589">
                <a:moveTo>
                  <a:pt x="0" y="0"/>
                </a:moveTo>
                <a:lnTo>
                  <a:pt x="514589" y="0"/>
                </a:lnTo>
                <a:lnTo>
                  <a:pt x="514589" y="514589"/>
                </a:lnTo>
                <a:lnTo>
                  <a:pt x="0" y="5145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6F3"/>
        </a:solidFill>
      </p:bgPr>
    </p:bg>
    <p:spTree>
      <p:nvGrpSpPr>
        <p:cNvPr id="1" name=""/>
        <p:cNvGrpSpPr/>
        <p:nvPr/>
      </p:nvGrpSpPr>
      <p:grpSpPr>
        <a:xfrm>
          <a:off x="0" y="0"/>
          <a:ext cx="0" cy="0"/>
          <a:chOff x="0" y="0"/>
          <a:chExt cx="0" cy="0"/>
        </a:xfrm>
      </p:grpSpPr>
      <p:grpSp>
        <p:nvGrpSpPr>
          <p:cNvPr name="Group 2" id="2"/>
          <p:cNvGrpSpPr/>
          <p:nvPr/>
        </p:nvGrpSpPr>
        <p:grpSpPr>
          <a:xfrm rot="0">
            <a:off x="11336387" y="2427933"/>
            <a:ext cx="6161038" cy="6755887"/>
            <a:chOff x="0" y="0"/>
            <a:chExt cx="8214717" cy="9007850"/>
          </a:xfrm>
        </p:grpSpPr>
        <p:grpSp>
          <p:nvGrpSpPr>
            <p:cNvPr name="Group 3" id="3"/>
            <p:cNvGrpSpPr/>
            <p:nvPr/>
          </p:nvGrpSpPr>
          <p:grpSpPr>
            <a:xfrm rot="0">
              <a:off x="0" y="0"/>
              <a:ext cx="8214717" cy="9007850"/>
              <a:chOff x="0" y="0"/>
              <a:chExt cx="1774374" cy="1945690"/>
            </a:xfrm>
          </p:grpSpPr>
          <p:sp>
            <p:nvSpPr>
              <p:cNvPr name="Freeform 4" id="4"/>
              <p:cNvSpPr/>
              <p:nvPr/>
            </p:nvSpPr>
            <p:spPr>
              <a:xfrm flipH="false" flipV="false" rot="0">
                <a:off x="0" y="0"/>
                <a:ext cx="1774374" cy="1945690"/>
              </a:xfrm>
              <a:custGeom>
                <a:avLst/>
                <a:gdLst/>
                <a:ahLst/>
                <a:cxnLst/>
                <a:rect r="r" b="b" t="t" l="l"/>
                <a:pathLst>
                  <a:path h="1945690" w="1774374">
                    <a:moveTo>
                      <a:pt x="33208" y="0"/>
                    </a:moveTo>
                    <a:lnTo>
                      <a:pt x="1741166" y="0"/>
                    </a:lnTo>
                    <a:cubicBezTo>
                      <a:pt x="1749973" y="0"/>
                      <a:pt x="1758420" y="3499"/>
                      <a:pt x="1764648" y="9726"/>
                    </a:cubicBezTo>
                    <a:cubicBezTo>
                      <a:pt x="1770875" y="15954"/>
                      <a:pt x="1774374" y="24401"/>
                      <a:pt x="1774374" y="33208"/>
                    </a:cubicBezTo>
                    <a:lnTo>
                      <a:pt x="1774374" y="1912482"/>
                    </a:lnTo>
                    <a:cubicBezTo>
                      <a:pt x="1774374" y="1930822"/>
                      <a:pt x="1759506" y="1945690"/>
                      <a:pt x="1741166" y="1945690"/>
                    </a:cubicBezTo>
                    <a:lnTo>
                      <a:pt x="33208" y="1945690"/>
                    </a:lnTo>
                    <a:cubicBezTo>
                      <a:pt x="24401" y="1945690"/>
                      <a:pt x="15954" y="1942192"/>
                      <a:pt x="9726" y="1935964"/>
                    </a:cubicBezTo>
                    <a:cubicBezTo>
                      <a:pt x="3499" y="1929736"/>
                      <a:pt x="0" y="1921290"/>
                      <a:pt x="0" y="1912482"/>
                    </a:cubicBezTo>
                    <a:lnTo>
                      <a:pt x="0" y="33208"/>
                    </a:lnTo>
                    <a:cubicBezTo>
                      <a:pt x="0" y="14868"/>
                      <a:pt x="14868" y="0"/>
                      <a:pt x="33208" y="0"/>
                    </a:cubicBezTo>
                    <a:close/>
                  </a:path>
                </a:pathLst>
              </a:custGeom>
              <a:solidFill>
                <a:srgbClr val="F2D6AA"/>
              </a:solidFill>
            </p:spPr>
          </p:sp>
          <p:sp>
            <p:nvSpPr>
              <p:cNvPr name="TextBox 5" id="5"/>
              <p:cNvSpPr txBox="true"/>
              <p:nvPr/>
            </p:nvSpPr>
            <p:spPr>
              <a:xfrm>
                <a:off x="0" y="9525"/>
                <a:ext cx="1774374" cy="1936165"/>
              </a:xfrm>
              <a:prstGeom prst="rect">
                <a:avLst/>
              </a:prstGeom>
            </p:spPr>
            <p:txBody>
              <a:bodyPr anchor="ctr" rtlCol="false" tIns="50800" lIns="50800" bIns="50800" rIns="50800"/>
              <a:lstStyle/>
              <a:p>
                <a:pPr algn="ctr">
                  <a:lnSpc>
                    <a:spcPts val="2300"/>
                  </a:lnSpc>
                </a:pPr>
              </a:p>
            </p:txBody>
          </p:sp>
        </p:grpSp>
        <p:sp>
          <p:nvSpPr>
            <p:cNvPr name="TextBox 6" id="6"/>
            <p:cNvSpPr txBox="true"/>
            <p:nvPr/>
          </p:nvSpPr>
          <p:spPr>
            <a:xfrm rot="0">
              <a:off x="318096" y="384536"/>
              <a:ext cx="3388409" cy="8212486"/>
            </a:xfrm>
            <a:prstGeom prst="rect">
              <a:avLst/>
            </a:prstGeom>
          </p:spPr>
          <p:txBody>
            <a:bodyPr anchor="t" rtlCol="false" tIns="0" lIns="0" bIns="0" rIns="0">
              <a:spAutoFit/>
            </a:bodyPr>
            <a:lstStyle/>
            <a:p>
              <a:pPr algn="ctr">
                <a:lnSpc>
                  <a:spcPts val="2571"/>
                </a:lnSpc>
              </a:pPr>
              <a:r>
                <a:rPr lang="en-US" b="true" sz="2295" spc="-11">
                  <a:solidFill>
                    <a:srgbClr val="931616"/>
                  </a:solidFill>
                  <a:latin typeface="Montserrat Bold"/>
                  <a:ea typeface="Montserrat Bold"/>
                  <a:cs typeface="Montserrat Bold"/>
                  <a:sym typeface="Montserrat Bold"/>
                </a:rPr>
                <a:t>STATISTIK DESKRIPTIF</a:t>
              </a:r>
            </a:p>
            <a:p>
              <a:pPr algn="ctr">
                <a:lnSpc>
                  <a:spcPts val="2571"/>
                </a:lnSpc>
              </a:pP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Mean</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Median</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Minimum</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Maksimum</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Standar Deviasi</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Interval Kepercayaan</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Jumlah Observasi</a:t>
              </a:r>
            </a:p>
          </p:txBody>
        </p:sp>
        <p:sp>
          <p:nvSpPr>
            <p:cNvPr name="AutoShape 7" id="7"/>
            <p:cNvSpPr/>
            <p:nvPr/>
          </p:nvSpPr>
          <p:spPr>
            <a:xfrm>
              <a:off x="318096" y="1627172"/>
              <a:ext cx="7543283" cy="0"/>
            </a:xfrm>
            <a:prstGeom prst="line">
              <a:avLst/>
            </a:prstGeom>
            <a:ln cap="flat" w="47947">
              <a:solidFill>
                <a:srgbClr val="931616"/>
              </a:solidFill>
              <a:prstDash val="solid"/>
              <a:headEnd type="none" len="sm" w="sm"/>
              <a:tailEnd type="none" len="sm" w="sm"/>
            </a:ln>
          </p:spPr>
        </p:sp>
        <p:sp>
          <p:nvSpPr>
            <p:cNvPr name="TextBox 8" id="8"/>
            <p:cNvSpPr txBox="true"/>
            <p:nvPr/>
          </p:nvSpPr>
          <p:spPr>
            <a:xfrm rot="0">
              <a:off x="4250949" y="399805"/>
              <a:ext cx="3388409" cy="7780884"/>
            </a:xfrm>
            <a:prstGeom prst="rect">
              <a:avLst/>
            </a:prstGeom>
          </p:spPr>
          <p:txBody>
            <a:bodyPr anchor="t" rtlCol="false" tIns="0" lIns="0" bIns="0" rIns="0">
              <a:spAutoFit/>
            </a:bodyPr>
            <a:lstStyle/>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NILAI</a:t>
              </a:r>
            </a:p>
            <a:p>
              <a:pPr algn="ctr">
                <a:lnSpc>
                  <a:spcPts val="2571"/>
                </a:lnSpc>
              </a:pP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Rp43.901</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Rp40.350</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Rp34.900</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Rp65.900</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1.068,47</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Rp41</a:t>
              </a:r>
            </a:p>
            <a:p>
              <a:pPr algn="ctr">
                <a:lnSpc>
                  <a:spcPts val="2571"/>
                </a:lnSpc>
              </a:pPr>
            </a:p>
            <a:p>
              <a:pPr algn="ctr">
                <a:lnSpc>
                  <a:spcPts val="2571"/>
                </a:lnSpc>
              </a:pPr>
              <a:r>
                <a:rPr lang="en-US" b="true" sz="2295" spc="-11">
                  <a:solidFill>
                    <a:srgbClr val="931616"/>
                  </a:solidFill>
                  <a:latin typeface="Montserrat Bold"/>
                  <a:ea typeface="Montserrat Bold"/>
                  <a:cs typeface="Montserrat Bold"/>
                  <a:sym typeface="Montserrat Bold"/>
                </a:rPr>
                <a:t>Jumlah Observasi</a:t>
              </a:r>
            </a:p>
          </p:txBody>
        </p:sp>
      </p:grpSp>
      <p:sp>
        <p:nvSpPr>
          <p:cNvPr name="Freeform 9" id="9"/>
          <p:cNvSpPr/>
          <p:nvPr/>
        </p:nvSpPr>
        <p:spPr>
          <a:xfrm flipH="false" flipV="false" rot="0">
            <a:off x="139815" y="3502711"/>
            <a:ext cx="9883138" cy="4484474"/>
          </a:xfrm>
          <a:custGeom>
            <a:avLst/>
            <a:gdLst/>
            <a:ahLst/>
            <a:cxnLst/>
            <a:rect r="r" b="b" t="t" l="l"/>
            <a:pathLst>
              <a:path h="4484474" w="9883138">
                <a:moveTo>
                  <a:pt x="0" y="0"/>
                </a:moveTo>
                <a:lnTo>
                  <a:pt x="9883138" y="0"/>
                </a:lnTo>
                <a:lnTo>
                  <a:pt x="9883138" y="4484473"/>
                </a:lnTo>
                <a:lnTo>
                  <a:pt x="0" y="4484473"/>
                </a:lnTo>
                <a:lnTo>
                  <a:pt x="0" y="0"/>
                </a:lnTo>
                <a:close/>
              </a:path>
            </a:pathLst>
          </a:custGeom>
          <a:blipFill>
            <a:blip r:embed="rId2"/>
            <a:stretch>
              <a:fillRect l="0" t="0" r="0" b="0"/>
            </a:stretch>
          </a:blipFill>
        </p:spPr>
      </p:sp>
      <p:sp>
        <p:nvSpPr>
          <p:cNvPr name="TextBox 10" id="10"/>
          <p:cNvSpPr txBox="true"/>
          <p:nvPr/>
        </p:nvSpPr>
        <p:spPr>
          <a:xfrm rot="0">
            <a:off x="807808" y="2777069"/>
            <a:ext cx="9452592" cy="409077"/>
          </a:xfrm>
          <a:prstGeom prst="rect">
            <a:avLst/>
          </a:prstGeom>
        </p:spPr>
        <p:txBody>
          <a:bodyPr anchor="t" rtlCol="false" tIns="0" lIns="0" bIns="0" rIns="0">
            <a:spAutoFit/>
          </a:bodyPr>
          <a:lstStyle/>
          <a:p>
            <a:pPr algn="l">
              <a:lnSpc>
                <a:spcPts val="3394"/>
              </a:lnSpc>
            </a:pPr>
            <a:r>
              <a:rPr lang="en-US" sz="2263" spc="-11" b="true">
                <a:solidFill>
                  <a:srgbClr val="752833"/>
                </a:solidFill>
                <a:latin typeface="Montserrat Bold"/>
                <a:ea typeface="Montserrat Bold"/>
                <a:cs typeface="Montserrat Bold"/>
                <a:sym typeface="Montserrat Bold"/>
              </a:rPr>
              <a:t>Berikut diagram alir untuk menggambarkan tahapan analisis.</a:t>
            </a:r>
          </a:p>
        </p:txBody>
      </p:sp>
      <p:sp>
        <p:nvSpPr>
          <p:cNvPr name="AutoShape 11" id="11"/>
          <p:cNvSpPr/>
          <p:nvPr/>
        </p:nvSpPr>
        <p:spPr>
          <a:xfrm flipV="true">
            <a:off x="10723690" y="528440"/>
            <a:ext cx="28575" cy="9230120"/>
          </a:xfrm>
          <a:prstGeom prst="line">
            <a:avLst/>
          </a:prstGeom>
          <a:ln cap="rnd" w="57150">
            <a:solidFill>
              <a:srgbClr val="E58E20"/>
            </a:solidFill>
            <a:prstDash val="sysDot"/>
            <a:headEnd type="none" len="sm" w="sm"/>
            <a:tailEnd type="none" len="sm" w="sm"/>
          </a:ln>
        </p:spPr>
      </p:sp>
      <p:sp>
        <p:nvSpPr>
          <p:cNvPr name="Freeform 12" id="12"/>
          <p:cNvSpPr/>
          <p:nvPr/>
        </p:nvSpPr>
        <p:spPr>
          <a:xfrm flipH="true" flipV="false" rot="1802753">
            <a:off x="406255" y="379478"/>
            <a:ext cx="1941265" cy="1585281"/>
          </a:xfrm>
          <a:custGeom>
            <a:avLst/>
            <a:gdLst/>
            <a:ahLst/>
            <a:cxnLst/>
            <a:rect r="r" b="b" t="t" l="l"/>
            <a:pathLst>
              <a:path h="1585281" w="1941265">
                <a:moveTo>
                  <a:pt x="1941266" y="0"/>
                </a:moveTo>
                <a:lnTo>
                  <a:pt x="0" y="0"/>
                </a:lnTo>
                <a:lnTo>
                  <a:pt x="0" y="1585281"/>
                </a:lnTo>
                <a:lnTo>
                  <a:pt x="1941266" y="1585281"/>
                </a:lnTo>
                <a:lnTo>
                  <a:pt x="194126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3023537" y="1057275"/>
            <a:ext cx="5021135" cy="730544"/>
          </a:xfrm>
          <a:prstGeom prst="rect">
            <a:avLst/>
          </a:prstGeom>
        </p:spPr>
        <p:txBody>
          <a:bodyPr anchor="t" rtlCol="false" tIns="0" lIns="0" bIns="0" rIns="0">
            <a:spAutoFit/>
          </a:bodyPr>
          <a:lstStyle/>
          <a:p>
            <a:pPr algn="ctr">
              <a:lnSpc>
                <a:spcPts val="5765"/>
              </a:lnSpc>
            </a:pPr>
            <a:r>
              <a:rPr lang="en-US" sz="5013" spc="-160">
                <a:solidFill>
                  <a:srgbClr val="D12324"/>
                </a:solidFill>
                <a:latin typeface="League Spartan"/>
                <a:ea typeface="League Spartan"/>
                <a:cs typeface="League Spartan"/>
                <a:sym typeface="League Spartan"/>
              </a:rPr>
              <a:t>DIAGRAM ALIR</a:t>
            </a:r>
          </a:p>
        </p:txBody>
      </p:sp>
      <p:sp>
        <p:nvSpPr>
          <p:cNvPr name="TextBox 14" id="14"/>
          <p:cNvSpPr txBox="true"/>
          <p:nvPr/>
        </p:nvSpPr>
        <p:spPr>
          <a:xfrm rot="0">
            <a:off x="10965250" y="1047750"/>
            <a:ext cx="7028312" cy="636681"/>
          </a:xfrm>
          <a:prstGeom prst="rect">
            <a:avLst/>
          </a:prstGeom>
        </p:spPr>
        <p:txBody>
          <a:bodyPr anchor="t" rtlCol="false" tIns="0" lIns="0" bIns="0" rIns="0">
            <a:spAutoFit/>
          </a:bodyPr>
          <a:lstStyle/>
          <a:p>
            <a:pPr algn="ctr">
              <a:lnSpc>
                <a:spcPts val="4980"/>
              </a:lnSpc>
            </a:pPr>
            <a:r>
              <a:rPr lang="en-US" sz="4330" spc="-138">
                <a:solidFill>
                  <a:srgbClr val="E58E20"/>
                </a:solidFill>
                <a:latin typeface="League Spartan"/>
                <a:ea typeface="League Spartan"/>
                <a:cs typeface="League Spartan"/>
                <a:sym typeface="League Spartan"/>
              </a:rPr>
              <a:t>STATISTIK DESKRIPTIF </a:t>
            </a:r>
          </a:p>
        </p:txBody>
      </p:sp>
      <p:sp>
        <p:nvSpPr>
          <p:cNvPr name="TextBox 15" id="15"/>
          <p:cNvSpPr txBox="true"/>
          <p:nvPr/>
        </p:nvSpPr>
        <p:spPr>
          <a:xfrm rot="0">
            <a:off x="11215554" y="1553560"/>
            <a:ext cx="6108289" cy="562124"/>
          </a:xfrm>
          <a:prstGeom prst="rect">
            <a:avLst/>
          </a:prstGeom>
        </p:spPr>
        <p:txBody>
          <a:bodyPr anchor="t" rtlCol="false" tIns="0" lIns="0" bIns="0" rIns="0">
            <a:spAutoFit/>
          </a:bodyPr>
          <a:lstStyle/>
          <a:p>
            <a:pPr algn="ctr">
              <a:lnSpc>
                <a:spcPts val="4454"/>
              </a:lnSpc>
            </a:pPr>
            <a:r>
              <a:rPr lang="en-US" b="true" sz="3563" spc="-21">
                <a:solidFill>
                  <a:srgbClr val="D12324"/>
                </a:solidFill>
                <a:latin typeface="Montserrat Bold"/>
                <a:ea typeface="Montserrat Bold"/>
                <a:cs typeface="Montserrat Bold"/>
                <a:sym typeface="Montserrat Bold"/>
              </a:rPr>
              <a:t>DATA AWAL</a:t>
            </a:r>
          </a:p>
        </p:txBody>
      </p:sp>
      <p:sp>
        <p:nvSpPr>
          <p:cNvPr name="Freeform 16" id="16"/>
          <p:cNvSpPr/>
          <p:nvPr/>
        </p:nvSpPr>
        <p:spPr>
          <a:xfrm flipH="true" flipV="false" rot="0">
            <a:off x="1402831" y="8591347"/>
            <a:ext cx="1947519" cy="1285363"/>
          </a:xfrm>
          <a:custGeom>
            <a:avLst/>
            <a:gdLst/>
            <a:ahLst/>
            <a:cxnLst/>
            <a:rect r="r" b="b" t="t" l="l"/>
            <a:pathLst>
              <a:path h="1285363" w="1947519">
                <a:moveTo>
                  <a:pt x="1947519" y="0"/>
                </a:moveTo>
                <a:lnTo>
                  <a:pt x="0" y="0"/>
                </a:lnTo>
                <a:lnTo>
                  <a:pt x="0" y="1285363"/>
                </a:lnTo>
                <a:lnTo>
                  <a:pt x="1947519" y="1285363"/>
                </a:lnTo>
                <a:lnTo>
                  <a:pt x="1947519"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429071" y="8731044"/>
            <a:ext cx="1947519" cy="1285363"/>
          </a:xfrm>
          <a:custGeom>
            <a:avLst/>
            <a:gdLst/>
            <a:ahLst/>
            <a:cxnLst/>
            <a:rect r="r" b="b" t="t" l="l"/>
            <a:pathLst>
              <a:path h="1285363" w="1947519">
                <a:moveTo>
                  <a:pt x="1947520" y="0"/>
                </a:moveTo>
                <a:lnTo>
                  <a:pt x="0" y="0"/>
                </a:lnTo>
                <a:lnTo>
                  <a:pt x="0" y="1285362"/>
                </a:lnTo>
                <a:lnTo>
                  <a:pt x="1947520" y="1285362"/>
                </a:lnTo>
                <a:lnTo>
                  <a:pt x="194752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transition spd="fast">
    <p:cover dir="d"/>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6F3"/>
        </a:solidFill>
      </p:bgPr>
    </p:bg>
    <p:spTree>
      <p:nvGrpSpPr>
        <p:cNvPr id="1" name=""/>
        <p:cNvGrpSpPr/>
        <p:nvPr/>
      </p:nvGrpSpPr>
      <p:grpSpPr>
        <a:xfrm>
          <a:off x="0" y="0"/>
          <a:ext cx="0" cy="0"/>
          <a:chOff x="0" y="0"/>
          <a:chExt cx="0" cy="0"/>
        </a:xfrm>
      </p:grpSpPr>
      <p:grpSp>
        <p:nvGrpSpPr>
          <p:cNvPr name="Group 2" id="2"/>
          <p:cNvGrpSpPr/>
          <p:nvPr/>
        </p:nvGrpSpPr>
        <p:grpSpPr>
          <a:xfrm rot="0">
            <a:off x="8421548" y="0"/>
            <a:ext cx="21321635" cy="1350541"/>
            <a:chOff x="0" y="0"/>
            <a:chExt cx="5615575" cy="355698"/>
          </a:xfrm>
        </p:grpSpPr>
        <p:sp>
          <p:nvSpPr>
            <p:cNvPr name="Freeform 3" id="3"/>
            <p:cNvSpPr/>
            <p:nvPr/>
          </p:nvSpPr>
          <p:spPr>
            <a:xfrm flipH="false" flipV="false" rot="0">
              <a:off x="0" y="0"/>
              <a:ext cx="5615575" cy="355698"/>
            </a:xfrm>
            <a:custGeom>
              <a:avLst/>
              <a:gdLst/>
              <a:ahLst/>
              <a:cxnLst/>
              <a:rect r="r" b="b" t="t" l="l"/>
              <a:pathLst>
                <a:path h="355698" w="5615575">
                  <a:moveTo>
                    <a:pt x="10167" y="0"/>
                  </a:moveTo>
                  <a:lnTo>
                    <a:pt x="5605408" y="0"/>
                  </a:lnTo>
                  <a:cubicBezTo>
                    <a:pt x="5608104" y="0"/>
                    <a:pt x="5610690" y="1071"/>
                    <a:pt x="5612597" y="2978"/>
                  </a:cubicBezTo>
                  <a:cubicBezTo>
                    <a:pt x="5614503" y="4884"/>
                    <a:pt x="5615575" y="7470"/>
                    <a:pt x="5615575" y="10167"/>
                  </a:cubicBezTo>
                  <a:lnTo>
                    <a:pt x="5615575" y="345531"/>
                  </a:lnTo>
                  <a:cubicBezTo>
                    <a:pt x="5615575" y="348228"/>
                    <a:pt x="5614503" y="350814"/>
                    <a:pt x="5612597" y="352720"/>
                  </a:cubicBezTo>
                  <a:cubicBezTo>
                    <a:pt x="5610690" y="354627"/>
                    <a:pt x="5608104" y="355698"/>
                    <a:pt x="5605408" y="355698"/>
                  </a:cubicBezTo>
                  <a:lnTo>
                    <a:pt x="10167" y="355698"/>
                  </a:lnTo>
                  <a:cubicBezTo>
                    <a:pt x="7470" y="355698"/>
                    <a:pt x="4884" y="354627"/>
                    <a:pt x="2978" y="352720"/>
                  </a:cubicBezTo>
                  <a:cubicBezTo>
                    <a:pt x="1071" y="350814"/>
                    <a:pt x="0" y="348228"/>
                    <a:pt x="0" y="345531"/>
                  </a:cubicBezTo>
                  <a:lnTo>
                    <a:pt x="0" y="10167"/>
                  </a:lnTo>
                  <a:cubicBezTo>
                    <a:pt x="0" y="7470"/>
                    <a:pt x="1071" y="4884"/>
                    <a:pt x="2978" y="2978"/>
                  </a:cubicBezTo>
                  <a:cubicBezTo>
                    <a:pt x="4884" y="1071"/>
                    <a:pt x="7470" y="0"/>
                    <a:pt x="10167" y="0"/>
                  </a:cubicBezTo>
                  <a:close/>
                </a:path>
              </a:pathLst>
            </a:custGeom>
            <a:solidFill>
              <a:srgbClr val="D12324"/>
            </a:solidFill>
          </p:spPr>
        </p:sp>
        <p:sp>
          <p:nvSpPr>
            <p:cNvPr name="TextBox 4" id="4"/>
            <p:cNvSpPr txBox="true"/>
            <p:nvPr/>
          </p:nvSpPr>
          <p:spPr>
            <a:xfrm>
              <a:off x="0" y="19050"/>
              <a:ext cx="5615575" cy="336648"/>
            </a:xfrm>
            <a:prstGeom prst="rect">
              <a:avLst/>
            </a:prstGeom>
          </p:spPr>
          <p:txBody>
            <a:bodyPr anchor="ctr" rtlCol="false" tIns="50800" lIns="50800" bIns="50800" rIns="50800"/>
            <a:lstStyle/>
            <a:p>
              <a:pPr algn="ctr">
                <a:lnSpc>
                  <a:spcPts val="2299"/>
                </a:lnSpc>
              </a:pPr>
            </a:p>
          </p:txBody>
        </p:sp>
      </p:grpSp>
      <p:sp>
        <p:nvSpPr>
          <p:cNvPr name="TextBox 5" id="5"/>
          <p:cNvSpPr txBox="true"/>
          <p:nvPr/>
        </p:nvSpPr>
        <p:spPr>
          <a:xfrm rot="0">
            <a:off x="9388832" y="431271"/>
            <a:ext cx="13755483" cy="716915"/>
          </a:xfrm>
          <a:prstGeom prst="rect">
            <a:avLst/>
          </a:prstGeom>
        </p:spPr>
        <p:txBody>
          <a:bodyPr anchor="t" rtlCol="false" tIns="0" lIns="0" bIns="0" rIns="0">
            <a:spAutoFit/>
          </a:bodyPr>
          <a:lstStyle/>
          <a:p>
            <a:pPr algn="l">
              <a:lnSpc>
                <a:spcPts val="5635"/>
              </a:lnSpc>
            </a:pPr>
            <a:r>
              <a:rPr lang="en-US" sz="4900" spc="-156">
                <a:solidFill>
                  <a:srgbClr val="FBEFE4"/>
                </a:solidFill>
                <a:latin typeface="League Spartan"/>
                <a:ea typeface="League Spartan"/>
                <a:cs typeface="League Spartan"/>
                <a:sym typeface="League Spartan"/>
              </a:rPr>
              <a:t>POLA FLUKTUASI HARGA</a:t>
            </a:r>
          </a:p>
        </p:txBody>
      </p:sp>
      <p:sp>
        <p:nvSpPr>
          <p:cNvPr name="TextBox 6" id="6"/>
          <p:cNvSpPr txBox="true"/>
          <p:nvPr/>
        </p:nvSpPr>
        <p:spPr>
          <a:xfrm rot="0">
            <a:off x="9620153" y="2982137"/>
            <a:ext cx="6646420" cy="4246526"/>
          </a:xfrm>
          <a:prstGeom prst="rect">
            <a:avLst/>
          </a:prstGeom>
        </p:spPr>
        <p:txBody>
          <a:bodyPr anchor="t" rtlCol="false" tIns="0" lIns="0" bIns="0" rIns="0">
            <a:spAutoFit/>
          </a:bodyPr>
          <a:lstStyle/>
          <a:p>
            <a:pPr algn="l" marL="618134" indent="-309067" lvl="1">
              <a:lnSpc>
                <a:spcPts val="4294"/>
              </a:lnSpc>
              <a:buFont typeface="Arial"/>
              <a:buChar char="•"/>
            </a:pPr>
            <a:r>
              <a:rPr lang="en-US" b="true" sz="2863" spc="-14">
                <a:solidFill>
                  <a:srgbClr val="752833"/>
                </a:solidFill>
                <a:latin typeface="Montserrat Bold"/>
                <a:ea typeface="Montserrat Bold"/>
                <a:cs typeface="Montserrat Bold"/>
                <a:sym typeface="Montserrat Bold"/>
              </a:rPr>
              <a:t>Harga tidak stabil dari minggu ke minggu.</a:t>
            </a:r>
          </a:p>
          <a:p>
            <a:pPr algn="l" marL="618134" indent="-309067" lvl="1">
              <a:lnSpc>
                <a:spcPts val="4294"/>
              </a:lnSpc>
              <a:buFont typeface="Arial"/>
              <a:buChar char="•"/>
            </a:pPr>
            <a:r>
              <a:rPr lang="en-US" b="true" sz="2863" spc="-14">
                <a:solidFill>
                  <a:srgbClr val="752833"/>
                </a:solidFill>
                <a:latin typeface="Montserrat Bold"/>
                <a:ea typeface="Montserrat Bold"/>
                <a:cs typeface="Montserrat Bold"/>
                <a:sym typeface="Montserrat Bold"/>
              </a:rPr>
              <a:t>Kenaikan terlihat memasuki Agustus.</a:t>
            </a:r>
          </a:p>
          <a:p>
            <a:pPr algn="l" marL="618134" indent="-309067" lvl="1">
              <a:lnSpc>
                <a:spcPts val="4294"/>
              </a:lnSpc>
              <a:buFont typeface="Arial"/>
              <a:buChar char="•"/>
            </a:pPr>
            <a:r>
              <a:rPr lang="en-US" b="true" sz="2863" spc="-14">
                <a:solidFill>
                  <a:srgbClr val="752833"/>
                </a:solidFill>
                <a:latin typeface="Montserrat Bold"/>
                <a:ea typeface="Montserrat Bold"/>
                <a:cs typeface="Montserrat Bold"/>
                <a:sym typeface="Montserrat Bold"/>
              </a:rPr>
              <a:t>Puncak fluktuasi sekitar September.</a:t>
            </a:r>
          </a:p>
          <a:p>
            <a:pPr algn="l" marL="618134" indent="-309067" lvl="1">
              <a:lnSpc>
                <a:spcPts val="4294"/>
              </a:lnSpc>
              <a:buFont typeface="Arial"/>
              <a:buChar char="•"/>
            </a:pPr>
            <a:r>
              <a:rPr lang="en-US" b="true" sz="2863" spc="-14">
                <a:solidFill>
                  <a:srgbClr val="752833"/>
                </a:solidFill>
                <a:latin typeface="Montserrat Bold"/>
                <a:ea typeface="Montserrat Bold"/>
                <a:cs typeface="Montserrat Bold"/>
                <a:sym typeface="Montserrat Bold"/>
              </a:rPr>
              <a:t>Harga mudah berubah mengikuti pasokan harian</a:t>
            </a:r>
          </a:p>
        </p:txBody>
      </p:sp>
      <p:sp>
        <p:nvSpPr>
          <p:cNvPr name="Freeform 7" id="7"/>
          <p:cNvSpPr/>
          <p:nvPr/>
        </p:nvSpPr>
        <p:spPr>
          <a:xfrm flipH="false" flipV="false" rot="0">
            <a:off x="596926" y="1673857"/>
            <a:ext cx="7824621" cy="7824621"/>
          </a:xfrm>
          <a:custGeom>
            <a:avLst/>
            <a:gdLst/>
            <a:ahLst/>
            <a:cxnLst/>
            <a:rect r="r" b="b" t="t" l="l"/>
            <a:pathLst>
              <a:path h="7824621" w="7824621">
                <a:moveTo>
                  <a:pt x="0" y="0"/>
                </a:moveTo>
                <a:lnTo>
                  <a:pt x="7824622" y="0"/>
                </a:lnTo>
                <a:lnTo>
                  <a:pt x="7824622" y="7824621"/>
                </a:lnTo>
                <a:lnTo>
                  <a:pt x="0" y="7824621"/>
                </a:lnTo>
                <a:lnTo>
                  <a:pt x="0" y="0"/>
                </a:lnTo>
                <a:close/>
              </a:path>
            </a:pathLst>
          </a:custGeom>
          <a:blipFill>
            <a:blip r:embed="rId2"/>
            <a:stretch>
              <a:fillRect l="0" t="0" r="0" b="0"/>
            </a:stretch>
          </a:blipFill>
        </p:spPr>
      </p:sp>
      <p:sp>
        <p:nvSpPr>
          <p:cNvPr name="Freeform 8" id="8"/>
          <p:cNvSpPr/>
          <p:nvPr/>
        </p:nvSpPr>
        <p:spPr>
          <a:xfrm flipH="false" flipV="false" rot="0">
            <a:off x="14808968" y="7391627"/>
            <a:ext cx="2964439" cy="2420828"/>
          </a:xfrm>
          <a:custGeom>
            <a:avLst/>
            <a:gdLst/>
            <a:ahLst/>
            <a:cxnLst/>
            <a:rect r="r" b="b" t="t" l="l"/>
            <a:pathLst>
              <a:path h="2420828" w="2964439">
                <a:moveTo>
                  <a:pt x="0" y="0"/>
                </a:moveTo>
                <a:lnTo>
                  <a:pt x="2964438" y="0"/>
                </a:lnTo>
                <a:lnTo>
                  <a:pt x="2964438" y="2420828"/>
                </a:lnTo>
                <a:lnTo>
                  <a:pt x="0" y="24208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6F3"/>
        </a:solidFill>
      </p:bgPr>
    </p:bg>
    <p:spTree>
      <p:nvGrpSpPr>
        <p:cNvPr id="1" name=""/>
        <p:cNvGrpSpPr/>
        <p:nvPr/>
      </p:nvGrpSpPr>
      <p:grpSpPr>
        <a:xfrm>
          <a:off x="0" y="0"/>
          <a:ext cx="0" cy="0"/>
          <a:chOff x="0" y="0"/>
          <a:chExt cx="0" cy="0"/>
        </a:xfrm>
      </p:grpSpPr>
      <p:grpSp>
        <p:nvGrpSpPr>
          <p:cNvPr name="Group 2" id="2"/>
          <p:cNvGrpSpPr/>
          <p:nvPr/>
        </p:nvGrpSpPr>
        <p:grpSpPr>
          <a:xfrm rot="0">
            <a:off x="2711581" y="0"/>
            <a:ext cx="13554992" cy="1221027"/>
            <a:chOff x="0" y="0"/>
            <a:chExt cx="5615575" cy="505848"/>
          </a:xfrm>
        </p:grpSpPr>
        <p:sp>
          <p:nvSpPr>
            <p:cNvPr name="Freeform 3" id="3"/>
            <p:cNvSpPr/>
            <p:nvPr/>
          </p:nvSpPr>
          <p:spPr>
            <a:xfrm flipH="false" flipV="false" rot="0">
              <a:off x="0" y="0"/>
              <a:ext cx="5615575" cy="505848"/>
            </a:xfrm>
            <a:custGeom>
              <a:avLst/>
              <a:gdLst/>
              <a:ahLst/>
              <a:cxnLst/>
              <a:rect r="r" b="b" t="t" l="l"/>
              <a:pathLst>
                <a:path h="505848" w="5615575">
                  <a:moveTo>
                    <a:pt x="15992" y="0"/>
                  </a:moveTo>
                  <a:lnTo>
                    <a:pt x="5599583" y="0"/>
                  </a:lnTo>
                  <a:cubicBezTo>
                    <a:pt x="5603824" y="0"/>
                    <a:pt x="5607891" y="1685"/>
                    <a:pt x="5610891" y="4684"/>
                  </a:cubicBezTo>
                  <a:cubicBezTo>
                    <a:pt x="5613890" y="7683"/>
                    <a:pt x="5615575" y="11751"/>
                    <a:pt x="5615575" y="15992"/>
                  </a:cubicBezTo>
                  <a:lnTo>
                    <a:pt x="5615575" y="489856"/>
                  </a:lnTo>
                  <a:cubicBezTo>
                    <a:pt x="5615575" y="494098"/>
                    <a:pt x="5613890" y="498165"/>
                    <a:pt x="5610891" y="501164"/>
                  </a:cubicBezTo>
                  <a:cubicBezTo>
                    <a:pt x="5607891" y="504163"/>
                    <a:pt x="5603824" y="505848"/>
                    <a:pt x="5599583" y="505848"/>
                  </a:cubicBezTo>
                  <a:lnTo>
                    <a:pt x="15992" y="505848"/>
                  </a:lnTo>
                  <a:cubicBezTo>
                    <a:pt x="11751" y="505848"/>
                    <a:pt x="7683" y="504163"/>
                    <a:pt x="4684" y="501164"/>
                  </a:cubicBezTo>
                  <a:cubicBezTo>
                    <a:pt x="1685" y="498165"/>
                    <a:pt x="0" y="494098"/>
                    <a:pt x="0" y="489856"/>
                  </a:cubicBezTo>
                  <a:lnTo>
                    <a:pt x="0" y="15992"/>
                  </a:lnTo>
                  <a:cubicBezTo>
                    <a:pt x="0" y="11751"/>
                    <a:pt x="1685" y="7683"/>
                    <a:pt x="4684" y="4684"/>
                  </a:cubicBezTo>
                  <a:cubicBezTo>
                    <a:pt x="7683" y="1685"/>
                    <a:pt x="11751" y="0"/>
                    <a:pt x="15992" y="0"/>
                  </a:cubicBezTo>
                  <a:close/>
                </a:path>
              </a:pathLst>
            </a:custGeom>
            <a:solidFill>
              <a:srgbClr val="D12324"/>
            </a:solidFill>
          </p:spPr>
        </p:sp>
        <p:sp>
          <p:nvSpPr>
            <p:cNvPr name="TextBox 4" id="4"/>
            <p:cNvSpPr txBox="true"/>
            <p:nvPr/>
          </p:nvSpPr>
          <p:spPr>
            <a:xfrm>
              <a:off x="0" y="19050"/>
              <a:ext cx="5615575" cy="486798"/>
            </a:xfrm>
            <a:prstGeom prst="rect">
              <a:avLst/>
            </a:prstGeom>
          </p:spPr>
          <p:txBody>
            <a:bodyPr anchor="ctr" rtlCol="false" tIns="50800" lIns="50800" bIns="50800" rIns="50800"/>
            <a:lstStyle/>
            <a:p>
              <a:pPr algn="ctr">
                <a:lnSpc>
                  <a:spcPts val="2299"/>
                </a:lnSpc>
              </a:pPr>
            </a:p>
          </p:txBody>
        </p:sp>
      </p:grpSp>
      <p:sp>
        <p:nvSpPr>
          <p:cNvPr name="Freeform 5" id="5"/>
          <p:cNvSpPr/>
          <p:nvPr/>
        </p:nvSpPr>
        <p:spPr>
          <a:xfrm flipH="true" flipV="false" rot="0">
            <a:off x="241374" y="7677827"/>
            <a:ext cx="2964439" cy="2420828"/>
          </a:xfrm>
          <a:custGeom>
            <a:avLst/>
            <a:gdLst/>
            <a:ahLst/>
            <a:cxnLst/>
            <a:rect r="r" b="b" t="t" l="l"/>
            <a:pathLst>
              <a:path h="2420828" w="2964439">
                <a:moveTo>
                  <a:pt x="2964438" y="0"/>
                </a:moveTo>
                <a:lnTo>
                  <a:pt x="0" y="0"/>
                </a:lnTo>
                <a:lnTo>
                  <a:pt x="0" y="2420828"/>
                </a:lnTo>
                <a:lnTo>
                  <a:pt x="2964438" y="2420828"/>
                </a:lnTo>
                <a:lnTo>
                  <a:pt x="296443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118151" y="1639418"/>
            <a:ext cx="8173036" cy="8173036"/>
          </a:xfrm>
          <a:custGeom>
            <a:avLst/>
            <a:gdLst/>
            <a:ahLst/>
            <a:cxnLst/>
            <a:rect r="r" b="b" t="t" l="l"/>
            <a:pathLst>
              <a:path h="8173036" w="8173036">
                <a:moveTo>
                  <a:pt x="0" y="0"/>
                </a:moveTo>
                <a:lnTo>
                  <a:pt x="8173036" y="0"/>
                </a:lnTo>
                <a:lnTo>
                  <a:pt x="8173036" y="8173037"/>
                </a:lnTo>
                <a:lnTo>
                  <a:pt x="0" y="8173037"/>
                </a:lnTo>
                <a:lnTo>
                  <a:pt x="0" y="0"/>
                </a:lnTo>
                <a:close/>
              </a:path>
            </a:pathLst>
          </a:custGeom>
          <a:blipFill>
            <a:blip r:embed="rId4"/>
            <a:stretch>
              <a:fillRect l="0" t="0" r="0" b="0"/>
            </a:stretch>
          </a:blipFill>
        </p:spPr>
      </p:sp>
      <p:sp>
        <p:nvSpPr>
          <p:cNvPr name="TextBox 7" id="7"/>
          <p:cNvSpPr txBox="true"/>
          <p:nvPr/>
        </p:nvSpPr>
        <p:spPr>
          <a:xfrm rot="0">
            <a:off x="5116630" y="446761"/>
            <a:ext cx="8744895" cy="578012"/>
          </a:xfrm>
          <a:prstGeom prst="rect">
            <a:avLst/>
          </a:prstGeom>
        </p:spPr>
        <p:txBody>
          <a:bodyPr anchor="t" rtlCol="false" tIns="0" lIns="0" bIns="0" rIns="0">
            <a:spAutoFit/>
          </a:bodyPr>
          <a:lstStyle/>
          <a:p>
            <a:pPr algn="ctr">
              <a:lnSpc>
                <a:spcPts val="4617"/>
              </a:lnSpc>
            </a:pPr>
            <a:r>
              <a:rPr lang="en-US" sz="4015" spc="-128">
                <a:solidFill>
                  <a:srgbClr val="FBEFE4"/>
                </a:solidFill>
                <a:latin typeface="League Spartan"/>
                <a:ea typeface="League Spartan"/>
                <a:cs typeface="League Spartan"/>
                <a:sym typeface="League Spartan"/>
              </a:rPr>
              <a:t>HASIL BOOTSTRAP</a:t>
            </a:r>
          </a:p>
        </p:txBody>
      </p:sp>
      <p:sp>
        <p:nvSpPr>
          <p:cNvPr name="TextBox 8" id="8"/>
          <p:cNvSpPr txBox="true"/>
          <p:nvPr/>
        </p:nvSpPr>
        <p:spPr>
          <a:xfrm rot="0">
            <a:off x="799740" y="3708137"/>
            <a:ext cx="6646420" cy="3177111"/>
          </a:xfrm>
          <a:prstGeom prst="rect">
            <a:avLst/>
          </a:prstGeom>
        </p:spPr>
        <p:txBody>
          <a:bodyPr anchor="t" rtlCol="false" tIns="0" lIns="0" bIns="0" rIns="0">
            <a:spAutoFit/>
          </a:bodyPr>
          <a:lstStyle/>
          <a:p>
            <a:pPr algn="l" marL="618134" indent="-309067" lvl="1">
              <a:lnSpc>
                <a:spcPts val="4294"/>
              </a:lnSpc>
              <a:buFont typeface="Arial"/>
              <a:buChar char="•"/>
            </a:pPr>
            <a:r>
              <a:rPr lang="en-US" b="true" sz="2863" spc="-14">
                <a:solidFill>
                  <a:srgbClr val="752833"/>
                </a:solidFill>
                <a:latin typeface="Montserrat Bold"/>
                <a:ea typeface="Montserrat Bold"/>
                <a:cs typeface="Montserrat Bold"/>
                <a:sym typeface="Montserrat Bold"/>
              </a:rPr>
              <a:t>Distribusi hasil resampling berbentuk lonceng.</a:t>
            </a:r>
          </a:p>
          <a:p>
            <a:pPr algn="l" marL="618134" indent="-309067" lvl="1">
              <a:lnSpc>
                <a:spcPts val="4294"/>
              </a:lnSpc>
              <a:buFont typeface="Arial"/>
              <a:buChar char="•"/>
            </a:pPr>
            <a:r>
              <a:rPr lang="en-US" b="true" sz="2863" spc="-14">
                <a:solidFill>
                  <a:srgbClr val="752833"/>
                </a:solidFill>
                <a:latin typeface="Montserrat Bold"/>
                <a:ea typeface="Montserrat Bold"/>
                <a:cs typeface="Montserrat Bold"/>
                <a:sym typeface="Montserrat Bold"/>
              </a:rPr>
              <a:t>Me</a:t>
            </a:r>
            <a:r>
              <a:rPr lang="en-US" b="true" sz="2863" spc="-14">
                <a:solidFill>
                  <a:srgbClr val="752833"/>
                </a:solidFill>
                <a:latin typeface="Montserrat Bold"/>
                <a:ea typeface="Montserrat Bold"/>
                <a:cs typeface="Montserrat Bold"/>
                <a:sym typeface="Montserrat Bold"/>
              </a:rPr>
              <a:t>an stabil sekitar 43–44 ribu rupiah.</a:t>
            </a:r>
          </a:p>
          <a:p>
            <a:pPr algn="l" marL="618134" indent="-309067" lvl="1">
              <a:lnSpc>
                <a:spcPts val="4294"/>
              </a:lnSpc>
              <a:buFont typeface="Arial"/>
              <a:buChar char="•"/>
            </a:pPr>
            <a:r>
              <a:rPr lang="en-US" b="true" sz="2863" spc="-14">
                <a:solidFill>
                  <a:srgbClr val="752833"/>
                </a:solidFill>
                <a:latin typeface="Montserrat Bold"/>
                <a:ea typeface="Montserrat Bold"/>
                <a:cs typeface="Montserrat Bold"/>
                <a:sym typeface="Montserrat Bold"/>
              </a:rPr>
              <a:t>Inte</a:t>
            </a:r>
            <a:r>
              <a:rPr lang="en-US" b="true" sz="2863" spc="-14">
                <a:solidFill>
                  <a:srgbClr val="752833"/>
                </a:solidFill>
                <a:latin typeface="Montserrat Bold"/>
                <a:ea typeface="Montserrat Bold"/>
                <a:cs typeface="Montserrat Bold"/>
                <a:sym typeface="Montserrat Bold"/>
              </a:rPr>
              <a:t>rval yang lebar menunjukkan volatilitas tinggi</a:t>
            </a:r>
          </a:p>
        </p:txBody>
      </p:sp>
    </p:spTree>
  </p:cSld>
  <p:clrMapOvr>
    <a:masterClrMapping/>
  </p:clrMapOvr>
  <p:transition spd="slow">
    <p:wipe dir="r"/>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6F3"/>
        </a:solidFill>
      </p:bgPr>
    </p:bg>
    <p:spTree>
      <p:nvGrpSpPr>
        <p:cNvPr id="1" name=""/>
        <p:cNvGrpSpPr/>
        <p:nvPr/>
      </p:nvGrpSpPr>
      <p:grpSpPr>
        <a:xfrm>
          <a:off x="0" y="0"/>
          <a:ext cx="0" cy="0"/>
          <a:chOff x="0" y="0"/>
          <a:chExt cx="0" cy="0"/>
        </a:xfrm>
      </p:grpSpPr>
      <p:grpSp>
        <p:nvGrpSpPr>
          <p:cNvPr name="Group 2" id="2"/>
          <p:cNvGrpSpPr/>
          <p:nvPr/>
        </p:nvGrpSpPr>
        <p:grpSpPr>
          <a:xfrm rot="0">
            <a:off x="315882" y="281879"/>
            <a:ext cx="11253583" cy="1380956"/>
            <a:chOff x="0" y="0"/>
            <a:chExt cx="3205759" cy="393387"/>
          </a:xfrm>
        </p:grpSpPr>
        <p:sp>
          <p:nvSpPr>
            <p:cNvPr name="Freeform 3" id="3"/>
            <p:cNvSpPr/>
            <p:nvPr/>
          </p:nvSpPr>
          <p:spPr>
            <a:xfrm flipH="false" flipV="false" rot="0">
              <a:off x="0" y="0"/>
              <a:ext cx="3205759" cy="393387"/>
            </a:xfrm>
            <a:custGeom>
              <a:avLst/>
              <a:gdLst/>
              <a:ahLst/>
              <a:cxnLst/>
              <a:rect r="r" b="b" t="t" l="l"/>
              <a:pathLst>
                <a:path h="393387" w="3205759">
                  <a:moveTo>
                    <a:pt x="19263" y="0"/>
                  </a:moveTo>
                  <a:lnTo>
                    <a:pt x="3186497" y="0"/>
                  </a:lnTo>
                  <a:cubicBezTo>
                    <a:pt x="3191605" y="0"/>
                    <a:pt x="3196505" y="2029"/>
                    <a:pt x="3200117" y="5642"/>
                  </a:cubicBezTo>
                  <a:cubicBezTo>
                    <a:pt x="3203730" y="9254"/>
                    <a:pt x="3205759" y="14154"/>
                    <a:pt x="3205759" y="19263"/>
                  </a:cubicBezTo>
                  <a:lnTo>
                    <a:pt x="3205759" y="374124"/>
                  </a:lnTo>
                  <a:cubicBezTo>
                    <a:pt x="3205759" y="379233"/>
                    <a:pt x="3203730" y="384133"/>
                    <a:pt x="3200117" y="387745"/>
                  </a:cubicBezTo>
                  <a:cubicBezTo>
                    <a:pt x="3196505" y="391358"/>
                    <a:pt x="3191605" y="393387"/>
                    <a:pt x="3186497" y="393387"/>
                  </a:cubicBezTo>
                  <a:lnTo>
                    <a:pt x="19263" y="393387"/>
                  </a:lnTo>
                  <a:cubicBezTo>
                    <a:pt x="14154" y="393387"/>
                    <a:pt x="9254" y="391358"/>
                    <a:pt x="5642" y="387745"/>
                  </a:cubicBezTo>
                  <a:cubicBezTo>
                    <a:pt x="2029" y="384133"/>
                    <a:pt x="0" y="379233"/>
                    <a:pt x="0" y="374124"/>
                  </a:cubicBezTo>
                  <a:lnTo>
                    <a:pt x="0" y="19263"/>
                  </a:lnTo>
                  <a:cubicBezTo>
                    <a:pt x="0" y="14154"/>
                    <a:pt x="2029" y="9254"/>
                    <a:pt x="5642" y="5642"/>
                  </a:cubicBezTo>
                  <a:cubicBezTo>
                    <a:pt x="9254" y="2029"/>
                    <a:pt x="14154" y="0"/>
                    <a:pt x="19263" y="0"/>
                  </a:cubicBezTo>
                  <a:close/>
                </a:path>
              </a:pathLst>
            </a:custGeom>
            <a:solidFill>
              <a:srgbClr val="D12324"/>
            </a:solidFill>
          </p:spPr>
        </p:sp>
        <p:sp>
          <p:nvSpPr>
            <p:cNvPr name="TextBox 4" id="4"/>
            <p:cNvSpPr txBox="true"/>
            <p:nvPr/>
          </p:nvSpPr>
          <p:spPr>
            <a:xfrm>
              <a:off x="0" y="19050"/>
              <a:ext cx="3205759" cy="374337"/>
            </a:xfrm>
            <a:prstGeom prst="rect">
              <a:avLst/>
            </a:prstGeom>
          </p:spPr>
          <p:txBody>
            <a:bodyPr anchor="ctr" rtlCol="false" tIns="50800" lIns="50800" bIns="50800" rIns="50800"/>
            <a:lstStyle/>
            <a:p>
              <a:pPr algn="ctr">
                <a:lnSpc>
                  <a:spcPts val="2299"/>
                </a:lnSpc>
              </a:pPr>
            </a:p>
          </p:txBody>
        </p:sp>
      </p:grpSp>
      <p:sp>
        <p:nvSpPr>
          <p:cNvPr name="Freeform 5" id="5"/>
          <p:cNvSpPr/>
          <p:nvPr/>
        </p:nvSpPr>
        <p:spPr>
          <a:xfrm flipH="false" flipV="false" rot="0">
            <a:off x="-115891" y="7719010"/>
            <a:ext cx="863547" cy="411264"/>
          </a:xfrm>
          <a:custGeom>
            <a:avLst/>
            <a:gdLst/>
            <a:ahLst/>
            <a:cxnLst/>
            <a:rect r="r" b="b" t="t" l="l"/>
            <a:pathLst>
              <a:path h="411264" w="863547">
                <a:moveTo>
                  <a:pt x="0" y="0"/>
                </a:moveTo>
                <a:lnTo>
                  <a:pt x="863547" y="0"/>
                </a:lnTo>
                <a:lnTo>
                  <a:pt x="863547" y="411264"/>
                </a:lnTo>
                <a:lnTo>
                  <a:pt x="0" y="4112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5153" y="8562154"/>
            <a:ext cx="863547" cy="411264"/>
          </a:xfrm>
          <a:custGeom>
            <a:avLst/>
            <a:gdLst/>
            <a:ahLst/>
            <a:cxnLst/>
            <a:rect r="r" b="b" t="t" l="l"/>
            <a:pathLst>
              <a:path h="411264" w="863547">
                <a:moveTo>
                  <a:pt x="0" y="0"/>
                </a:moveTo>
                <a:lnTo>
                  <a:pt x="863547" y="0"/>
                </a:lnTo>
                <a:lnTo>
                  <a:pt x="863547" y="411264"/>
                </a:lnTo>
                <a:lnTo>
                  <a:pt x="0" y="4112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468064" y="1958111"/>
            <a:ext cx="11101401" cy="3715841"/>
            <a:chOff x="0" y="0"/>
            <a:chExt cx="1093944" cy="366163"/>
          </a:xfrm>
        </p:grpSpPr>
        <p:sp>
          <p:nvSpPr>
            <p:cNvPr name="Freeform 8" id="8"/>
            <p:cNvSpPr/>
            <p:nvPr/>
          </p:nvSpPr>
          <p:spPr>
            <a:xfrm flipH="false" flipV="false" rot="0">
              <a:off x="0" y="0"/>
              <a:ext cx="1093944" cy="366163"/>
            </a:xfrm>
            <a:custGeom>
              <a:avLst/>
              <a:gdLst/>
              <a:ahLst/>
              <a:cxnLst/>
              <a:rect r="r" b="b" t="t" l="l"/>
              <a:pathLst>
                <a:path h="366163" w="1093944">
                  <a:moveTo>
                    <a:pt x="890744" y="0"/>
                  </a:moveTo>
                  <a:cubicBezTo>
                    <a:pt x="1002968" y="0"/>
                    <a:pt x="1093944" y="81968"/>
                    <a:pt x="1093944" y="183082"/>
                  </a:cubicBezTo>
                  <a:cubicBezTo>
                    <a:pt x="1093944" y="284195"/>
                    <a:pt x="1002968" y="366163"/>
                    <a:pt x="890744" y="366163"/>
                  </a:cubicBezTo>
                  <a:lnTo>
                    <a:pt x="203200" y="366163"/>
                  </a:lnTo>
                  <a:cubicBezTo>
                    <a:pt x="90976" y="366163"/>
                    <a:pt x="0" y="284195"/>
                    <a:pt x="0" y="183082"/>
                  </a:cubicBezTo>
                  <a:cubicBezTo>
                    <a:pt x="0" y="81968"/>
                    <a:pt x="90976" y="0"/>
                    <a:pt x="203200" y="0"/>
                  </a:cubicBezTo>
                  <a:lnTo>
                    <a:pt x="890744" y="0"/>
                  </a:lnTo>
                  <a:close/>
                </a:path>
              </a:pathLst>
            </a:custGeom>
            <a:solidFill>
              <a:srgbClr val="D12324">
                <a:alpha val="81961"/>
              </a:srgbClr>
            </a:solidFill>
            <a:ln cap="rnd">
              <a:noFill/>
              <a:prstDash val="solid"/>
              <a:round/>
            </a:ln>
          </p:spPr>
        </p:sp>
        <p:sp>
          <p:nvSpPr>
            <p:cNvPr name="TextBox 9" id="9"/>
            <p:cNvSpPr txBox="true"/>
            <p:nvPr/>
          </p:nvSpPr>
          <p:spPr>
            <a:xfrm>
              <a:off x="0" y="19050"/>
              <a:ext cx="1093944" cy="347113"/>
            </a:xfrm>
            <a:prstGeom prst="rect">
              <a:avLst/>
            </a:prstGeom>
          </p:spPr>
          <p:txBody>
            <a:bodyPr anchor="ctr" rtlCol="false" tIns="50800" lIns="50800" bIns="50800" rIns="50800"/>
            <a:lstStyle/>
            <a:p>
              <a:pPr algn="ctr" marL="0" indent="0" lvl="0">
                <a:lnSpc>
                  <a:spcPts val="2299"/>
                </a:lnSpc>
                <a:spcBef>
                  <a:spcPct val="0"/>
                </a:spcBef>
              </a:pPr>
            </a:p>
          </p:txBody>
        </p:sp>
      </p:grpSp>
      <p:grpSp>
        <p:nvGrpSpPr>
          <p:cNvPr name="Group 10" id="10"/>
          <p:cNvGrpSpPr/>
          <p:nvPr/>
        </p:nvGrpSpPr>
        <p:grpSpPr>
          <a:xfrm rot="0">
            <a:off x="8641118" y="7494892"/>
            <a:ext cx="8883353" cy="2368613"/>
            <a:chOff x="0" y="0"/>
            <a:chExt cx="1190623" cy="317462"/>
          </a:xfrm>
        </p:grpSpPr>
        <p:sp>
          <p:nvSpPr>
            <p:cNvPr name="Freeform 11" id="11"/>
            <p:cNvSpPr/>
            <p:nvPr/>
          </p:nvSpPr>
          <p:spPr>
            <a:xfrm flipH="false" flipV="false" rot="0">
              <a:off x="0" y="0"/>
              <a:ext cx="1190623" cy="317462"/>
            </a:xfrm>
            <a:custGeom>
              <a:avLst/>
              <a:gdLst/>
              <a:ahLst/>
              <a:cxnLst/>
              <a:rect r="r" b="b" t="t" l="l"/>
              <a:pathLst>
                <a:path h="317462" w="1190623">
                  <a:moveTo>
                    <a:pt x="987423" y="0"/>
                  </a:moveTo>
                  <a:cubicBezTo>
                    <a:pt x="1099647" y="0"/>
                    <a:pt x="1190623" y="71066"/>
                    <a:pt x="1190623" y="158731"/>
                  </a:cubicBezTo>
                  <a:cubicBezTo>
                    <a:pt x="1190623" y="246396"/>
                    <a:pt x="1099647" y="317462"/>
                    <a:pt x="987423" y="317462"/>
                  </a:cubicBezTo>
                  <a:lnTo>
                    <a:pt x="203200" y="317462"/>
                  </a:lnTo>
                  <a:cubicBezTo>
                    <a:pt x="90976" y="317462"/>
                    <a:pt x="0" y="246396"/>
                    <a:pt x="0" y="158731"/>
                  </a:cubicBezTo>
                  <a:cubicBezTo>
                    <a:pt x="0" y="71066"/>
                    <a:pt x="90976" y="0"/>
                    <a:pt x="203200" y="0"/>
                  </a:cubicBezTo>
                  <a:lnTo>
                    <a:pt x="987423" y="0"/>
                  </a:lnTo>
                  <a:close/>
                </a:path>
              </a:pathLst>
            </a:custGeom>
            <a:solidFill>
              <a:srgbClr val="E58E20">
                <a:alpha val="80784"/>
              </a:srgbClr>
            </a:solidFill>
            <a:ln cap="rnd">
              <a:noFill/>
              <a:prstDash val="solid"/>
              <a:round/>
            </a:ln>
          </p:spPr>
        </p:sp>
        <p:sp>
          <p:nvSpPr>
            <p:cNvPr name="TextBox 12" id="12"/>
            <p:cNvSpPr txBox="true"/>
            <p:nvPr/>
          </p:nvSpPr>
          <p:spPr>
            <a:xfrm>
              <a:off x="0" y="19050"/>
              <a:ext cx="1190623" cy="298412"/>
            </a:xfrm>
            <a:prstGeom prst="rect">
              <a:avLst/>
            </a:prstGeom>
          </p:spPr>
          <p:txBody>
            <a:bodyPr anchor="ctr" rtlCol="false" tIns="50800" lIns="50800" bIns="50800" rIns="50800"/>
            <a:lstStyle/>
            <a:p>
              <a:pPr algn="ctr" marL="0" indent="0" lvl="0">
                <a:lnSpc>
                  <a:spcPts val="2299"/>
                </a:lnSpc>
                <a:spcBef>
                  <a:spcPct val="0"/>
                </a:spcBef>
              </a:pPr>
            </a:p>
          </p:txBody>
        </p:sp>
      </p:grpSp>
      <p:sp>
        <p:nvSpPr>
          <p:cNvPr name="TextBox 13" id="13"/>
          <p:cNvSpPr txBox="true"/>
          <p:nvPr/>
        </p:nvSpPr>
        <p:spPr>
          <a:xfrm rot="0">
            <a:off x="9378150" y="7999319"/>
            <a:ext cx="8639360" cy="1379565"/>
          </a:xfrm>
          <a:prstGeom prst="rect">
            <a:avLst/>
          </a:prstGeom>
        </p:spPr>
        <p:txBody>
          <a:bodyPr anchor="t" rtlCol="false" tIns="0" lIns="0" bIns="0" rIns="0">
            <a:spAutoFit/>
          </a:bodyPr>
          <a:lstStyle/>
          <a:p>
            <a:pPr algn="just" marL="531943" indent="-265971" lvl="1">
              <a:lnSpc>
                <a:spcPts val="3695"/>
              </a:lnSpc>
              <a:buFont typeface="Arial"/>
              <a:buChar char="•"/>
            </a:pPr>
            <a:r>
              <a:rPr lang="en-US" sz="2463" spc="-12">
                <a:solidFill>
                  <a:srgbClr val="752833"/>
                </a:solidFill>
                <a:latin typeface="Montserrat"/>
                <a:ea typeface="Montserrat"/>
                <a:cs typeface="Montserrat"/>
                <a:sym typeface="Montserrat"/>
              </a:rPr>
              <a:t>Perlu pemantauan harga yang lebih rutin.</a:t>
            </a:r>
          </a:p>
          <a:p>
            <a:pPr algn="just" marL="531943" indent="-265971" lvl="1">
              <a:lnSpc>
                <a:spcPts val="3695"/>
              </a:lnSpc>
              <a:buFont typeface="Arial"/>
              <a:buChar char="•"/>
            </a:pPr>
            <a:r>
              <a:rPr lang="en-US" sz="2463" spc="-12">
                <a:solidFill>
                  <a:srgbClr val="752833"/>
                </a:solidFill>
                <a:latin typeface="Montserrat"/>
                <a:ea typeface="Montserrat"/>
                <a:cs typeface="Montserrat"/>
                <a:sym typeface="Montserrat"/>
              </a:rPr>
              <a:t>Tambah pasokan sa</a:t>
            </a:r>
            <a:r>
              <a:rPr lang="en-US" sz="2463" spc="-12">
                <a:solidFill>
                  <a:srgbClr val="752833"/>
                </a:solidFill>
                <a:latin typeface="Montserrat"/>
                <a:ea typeface="Montserrat"/>
                <a:cs typeface="Montserrat"/>
                <a:sym typeface="Montserrat"/>
              </a:rPr>
              <a:t>at harga melonjak.</a:t>
            </a:r>
          </a:p>
          <a:p>
            <a:pPr algn="just" marL="531943" indent="-265971" lvl="1">
              <a:lnSpc>
                <a:spcPts val="3695"/>
              </a:lnSpc>
              <a:buFont typeface="Arial"/>
              <a:buChar char="•"/>
            </a:pPr>
            <a:r>
              <a:rPr lang="en-US" sz="2463" spc="-12">
                <a:solidFill>
                  <a:srgbClr val="752833"/>
                </a:solidFill>
                <a:latin typeface="Montserrat"/>
                <a:ea typeface="Montserrat"/>
                <a:cs typeface="Montserrat"/>
                <a:sym typeface="Montserrat"/>
              </a:rPr>
              <a:t>Dukung petani agar produksi tetap stabil.</a:t>
            </a:r>
          </a:p>
        </p:txBody>
      </p:sp>
      <p:sp>
        <p:nvSpPr>
          <p:cNvPr name="TextBox 14" id="14"/>
          <p:cNvSpPr txBox="true"/>
          <p:nvPr/>
        </p:nvSpPr>
        <p:spPr>
          <a:xfrm rot="0">
            <a:off x="596926" y="524501"/>
            <a:ext cx="10595612" cy="1090709"/>
          </a:xfrm>
          <a:prstGeom prst="rect">
            <a:avLst/>
          </a:prstGeom>
        </p:spPr>
        <p:txBody>
          <a:bodyPr anchor="t" rtlCol="false" tIns="0" lIns="0" bIns="0" rIns="0">
            <a:spAutoFit/>
          </a:bodyPr>
          <a:lstStyle/>
          <a:p>
            <a:pPr algn="ctr">
              <a:lnSpc>
                <a:spcPts val="4341"/>
              </a:lnSpc>
            </a:pPr>
            <a:r>
              <a:rPr lang="en-US" sz="3775" spc="-120">
                <a:solidFill>
                  <a:srgbClr val="FBEFE4"/>
                </a:solidFill>
                <a:latin typeface="League Spartan"/>
                <a:ea typeface="League Spartan"/>
                <a:cs typeface="League Spartan"/>
                <a:sym typeface="League Spartan"/>
              </a:rPr>
              <a:t>RISIKO KETIDAKSTABILAN HARGA CABAI MERAH BESAR</a:t>
            </a:r>
          </a:p>
        </p:txBody>
      </p:sp>
      <p:sp>
        <p:nvSpPr>
          <p:cNvPr name="TextBox 15" id="15"/>
          <p:cNvSpPr txBox="true"/>
          <p:nvPr/>
        </p:nvSpPr>
        <p:spPr>
          <a:xfrm rot="0">
            <a:off x="1157021" y="2423378"/>
            <a:ext cx="9675662" cy="2718632"/>
          </a:xfrm>
          <a:prstGeom prst="rect">
            <a:avLst/>
          </a:prstGeom>
        </p:spPr>
        <p:txBody>
          <a:bodyPr anchor="t" rtlCol="false" tIns="0" lIns="0" bIns="0" rIns="0">
            <a:spAutoFit/>
          </a:bodyPr>
          <a:lstStyle/>
          <a:p>
            <a:pPr algn="just" marL="518166" indent="-259083" lvl="1">
              <a:lnSpc>
                <a:spcPts val="3600"/>
              </a:lnSpc>
              <a:buFont typeface="Arial"/>
              <a:buChar char="•"/>
            </a:pPr>
            <a:r>
              <a:rPr lang="en-US" sz="2400" spc="-12">
                <a:solidFill>
                  <a:srgbClr val="EDE6DD"/>
                </a:solidFill>
                <a:latin typeface="Montserrat"/>
                <a:ea typeface="Montserrat"/>
                <a:cs typeface="Montserrat"/>
                <a:sym typeface="Montserrat"/>
              </a:rPr>
              <a:t>Produksi cabai sangat sensitif terhadap cuaca, hama, dan pola panen memicu lonjakan harga.</a:t>
            </a:r>
          </a:p>
          <a:p>
            <a:pPr algn="just" marL="518166" indent="-259083" lvl="1">
              <a:lnSpc>
                <a:spcPts val="3600"/>
              </a:lnSpc>
              <a:buFont typeface="Arial"/>
              <a:buChar char="•"/>
            </a:pPr>
            <a:r>
              <a:rPr lang="en-US" sz="2400" spc="-12">
                <a:solidFill>
                  <a:srgbClr val="EDE6DD"/>
                </a:solidFill>
                <a:latin typeface="Montserrat"/>
                <a:ea typeface="Montserrat"/>
                <a:cs typeface="Montserrat"/>
                <a:sym typeface="Montserrat"/>
              </a:rPr>
              <a:t>C</a:t>
            </a:r>
            <a:r>
              <a:rPr lang="en-US" sz="2400" spc="-12">
                <a:solidFill>
                  <a:srgbClr val="EDE6DD"/>
                </a:solidFill>
                <a:latin typeface="Montserrat"/>
                <a:ea typeface="Montserrat"/>
                <a:cs typeface="Montserrat"/>
                <a:sym typeface="Montserrat"/>
              </a:rPr>
              <a:t>abai termasuk komoditas penyumbang inflasi sehingga berdampak langsung pada inflasi daerah.</a:t>
            </a:r>
          </a:p>
          <a:p>
            <a:pPr algn="just" marL="518166" indent="-259083" lvl="1">
              <a:lnSpc>
                <a:spcPts val="3600"/>
              </a:lnSpc>
              <a:buFont typeface="Arial"/>
              <a:buChar char="•"/>
            </a:pPr>
            <a:r>
              <a:rPr lang="en-US" sz="2400" spc="-12">
                <a:solidFill>
                  <a:srgbClr val="EDE6DD"/>
                </a:solidFill>
                <a:latin typeface="Montserrat"/>
                <a:ea typeface="Montserrat"/>
                <a:cs typeface="Montserrat"/>
                <a:sym typeface="Montserrat"/>
              </a:rPr>
              <a:t>Lonjakan harga tajam membebani rumah tangga, terutama kelompok berpendapatan rendah.</a:t>
            </a:r>
          </a:p>
        </p:txBody>
      </p:sp>
      <p:grpSp>
        <p:nvGrpSpPr>
          <p:cNvPr name="Group 16" id="16"/>
          <p:cNvGrpSpPr/>
          <p:nvPr/>
        </p:nvGrpSpPr>
        <p:grpSpPr>
          <a:xfrm rot="0">
            <a:off x="8999185" y="6378761"/>
            <a:ext cx="8167218" cy="982425"/>
            <a:chOff x="0" y="0"/>
            <a:chExt cx="2716412" cy="326754"/>
          </a:xfrm>
        </p:grpSpPr>
        <p:sp>
          <p:nvSpPr>
            <p:cNvPr name="Freeform 17" id="17"/>
            <p:cNvSpPr/>
            <p:nvPr/>
          </p:nvSpPr>
          <p:spPr>
            <a:xfrm flipH="false" flipV="false" rot="0">
              <a:off x="0" y="0"/>
              <a:ext cx="2716412" cy="326754"/>
            </a:xfrm>
            <a:custGeom>
              <a:avLst/>
              <a:gdLst/>
              <a:ahLst/>
              <a:cxnLst/>
              <a:rect r="r" b="b" t="t" l="l"/>
              <a:pathLst>
                <a:path h="326754" w="2716412">
                  <a:moveTo>
                    <a:pt x="26542" y="0"/>
                  </a:moveTo>
                  <a:lnTo>
                    <a:pt x="2689871" y="0"/>
                  </a:lnTo>
                  <a:cubicBezTo>
                    <a:pt x="2704529" y="0"/>
                    <a:pt x="2716412" y="11883"/>
                    <a:pt x="2716412" y="26542"/>
                  </a:cubicBezTo>
                  <a:lnTo>
                    <a:pt x="2716412" y="300212"/>
                  </a:lnTo>
                  <a:cubicBezTo>
                    <a:pt x="2716412" y="314871"/>
                    <a:pt x="2704529" y="326754"/>
                    <a:pt x="2689871" y="326754"/>
                  </a:cubicBezTo>
                  <a:lnTo>
                    <a:pt x="26542" y="326754"/>
                  </a:lnTo>
                  <a:cubicBezTo>
                    <a:pt x="11883" y="326754"/>
                    <a:pt x="0" y="314871"/>
                    <a:pt x="0" y="300212"/>
                  </a:cubicBezTo>
                  <a:lnTo>
                    <a:pt x="0" y="26542"/>
                  </a:lnTo>
                  <a:cubicBezTo>
                    <a:pt x="0" y="11883"/>
                    <a:pt x="11883" y="0"/>
                    <a:pt x="26542" y="0"/>
                  </a:cubicBezTo>
                  <a:close/>
                </a:path>
              </a:pathLst>
            </a:custGeom>
            <a:solidFill>
              <a:srgbClr val="C34D0F"/>
            </a:solidFill>
          </p:spPr>
        </p:sp>
        <p:sp>
          <p:nvSpPr>
            <p:cNvPr name="TextBox 18" id="18"/>
            <p:cNvSpPr txBox="true"/>
            <p:nvPr/>
          </p:nvSpPr>
          <p:spPr>
            <a:xfrm>
              <a:off x="0" y="19050"/>
              <a:ext cx="2716412" cy="307704"/>
            </a:xfrm>
            <a:prstGeom prst="rect">
              <a:avLst/>
            </a:prstGeom>
          </p:spPr>
          <p:txBody>
            <a:bodyPr anchor="ctr" rtlCol="false" tIns="50800" lIns="50800" bIns="50800" rIns="50800"/>
            <a:lstStyle/>
            <a:p>
              <a:pPr algn="ctr">
                <a:lnSpc>
                  <a:spcPts val="2299"/>
                </a:lnSpc>
              </a:pPr>
            </a:p>
          </p:txBody>
        </p:sp>
      </p:grpSp>
      <p:sp>
        <p:nvSpPr>
          <p:cNvPr name="TextBox 19" id="19"/>
          <p:cNvSpPr txBox="true"/>
          <p:nvPr/>
        </p:nvSpPr>
        <p:spPr>
          <a:xfrm rot="0">
            <a:off x="8887638" y="6683602"/>
            <a:ext cx="8390314" cy="548070"/>
          </a:xfrm>
          <a:prstGeom prst="rect">
            <a:avLst/>
          </a:prstGeom>
        </p:spPr>
        <p:txBody>
          <a:bodyPr anchor="t" rtlCol="false" tIns="0" lIns="0" bIns="0" rIns="0">
            <a:spAutoFit/>
          </a:bodyPr>
          <a:lstStyle/>
          <a:p>
            <a:pPr algn="ctr">
              <a:lnSpc>
                <a:spcPts val="4375"/>
              </a:lnSpc>
            </a:pPr>
            <a:r>
              <a:rPr lang="en-US" sz="3805" spc="-121">
                <a:solidFill>
                  <a:srgbClr val="FBEFE4"/>
                </a:solidFill>
                <a:latin typeface="League Spartan"/>
                <a:ea typeface="League Spartan"/>
                <a:cs typeface="League Spartan"/>
                <a:sym typeface="League Spartan"/>
              </a:rPr>
              <a:t>IMPLIKASI KEBIJAKAN</a:t>
            </a:r>
          </a:p>
        </p:txBody>
      </p:sp>
      <p:sp>
        <p:nvSpPr>
          <p:cNvPr name="Freeform 20" id="20"/>
          <p:cNvSpPr/>
          <p:nvPr/>
        </p:nvSpPr>
        <p:spPr>
          <a:xfrm flipH="false" flipV="false" rot="0">
            <a:off x="13586808" y="281879"/>
            <a:ext cx="3937664" cy="3215585"/>
          </a:xfrm>
          <a:custGeom>
            <a:avLst/>
            <a:gdLst/>
            <a:ahLst/>
            <a:cxnLst/>
            <a:rect r="r" b="b" t="t" l="l"/>
            <a:pathLst>
              <a:path h="3215585" w="3937664">
                <a:moveTo>
                  <a:pt x="0" y="0"/>
                </a:moveTo>
                <a:lnTo>
                  <a:pt x="3937663" y="0"/>
                </a:lnTo>
                <a:lnTo>
                  <a:pt x="3937663" y="3215586"/>
                </a:lnTo>
                <a:lnTo>
                  <a:pt x="0" y="32155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802846" y="7719010"/>
            <a:ext cx="3113605" cy="2144495"/>
          </a:xfrm>
          <a:custGeom>
            <a:avLst/>
            <a:gdLst/>
            <a:ahLst/>
            <a:cxnLst/>
            <a:rect r="r" b="b" t="t" l="l"/>
            <a:pathLst>
              <a:path h="2144495" w="3113605">
                <a:moveTo>
                  <a:pt x="0" y="0"/>
                </a:moveTo>
                <a:lnTo>
                  <a:pt x="3113605" y="0"/>
                </a:lnTo>
                <a:lnTo>
                  <a:pt x="3113605" y="2144495"/>
                </a:lnTo>
                <a:lnTo>
                  <a:pt x="0" y="2144495"/>
                </a:lnTo>
                <a:lnTo>
                  <a:pt x="0" y="0"/>
                </a:lnTo>
                <a:close/>
              </a:path>
            </a:pathLst>
          </a:custGeom>
          <a:blipFill>
            <a:blip r:embed="rId6"/>
            <a:stretch>
              <a:fillRect l="0" t="0" r="0" b="0"/>
            </a:stretch>
          </a:blipFill>
        </p:spPr>
      </p:sp>
    </p:spTree>
  </p:cSld>
  <p:clrMapOvr>
    <a:masterClrMapping/>
  </p:clrMapOvr>
  <p:transition spd="slow">
    <p:wipe dir="r"/>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6F3"/>
        </a:solidFill>
      </p:bgPr>
    </p:bg>
    <p:spTree>
      <p:nvGrpSpPr>
        <p:cNvPr id="1" name=""/>
        <p:cNvGrpSpPr/>
        <p:nvPr/>
      </p:nvGrpSpPr>
      <p:grpSpPr>
        <a:xfrm>
          <a:off x="0" y="0"/>
          <a:ext cx="0" cy="0"/>
          <a:chOff x="0" y="0"/>
          <a:chExt cx="0" cy="0"/>
        </a:xfrm>
      </p:grpSpPr>
      <p:sp>
        <p:nvSpPr>
          <p:cNvPr name="TextBox 2" id="2"/>
          <p:cNvSpPr txBox="true"/>
          <p:nvPr/>
        </p:nvSpPr>
        <p:spPr>
          <a:xfrm rot="0">
            <a:off x="2996928" y="889021"/>
            <a:ext cx="12294144" cy="955609"/>
          </a:xfrm>
          <a:prstGeom prst="rect">
            <a:avLst/>
          </a:prstGeom>
        </p:spPr>
        <p:txBody>
          <a:bodyPr anchor="t" rtlCol="false" tIns="0" lIns="0" bIns="0" rIns="0">
            <a:spAutoFit/>
          </a:bodyPr>
          <a:lstStyle/>
          <a:p>
            <a:pPr algn="ctr">
              <a:lnSpc>
                <a:spcPts val="7475"/>
              </a:lnSpc>
            </a:pPr>
            <a:r>
              <a:rPr lang="en-US" sz="6500" spc="-208">
                <a:solidFill>
                  <a:srgbClr val="D12324"/>
                </a:solidFill>
                <a:latin typeface="League Spartan"/>
                <a:ea typeface="League Spartan"/>
                <a:cs typeface="League Spartan"/>
                <a:sym typeface="League Spartan"/>
              </a:rPr>
              <a:t>PENUTUP</a:t>
            </a:r>
          </a:p>
        </p:txBody>
      </p:sp>
      <p:sp>
        <p:nvSpPr>
          <p:cNvPr name="TextBox 3" id="3"/>
          <p:cNvSpPr txBox="true"/>
          <p:nvPr/>
        </p:nvSpPr>
        <p:spPr>
          <a:xfrm rot="0">
            <a:off x="2075595" y="3963837"/>
            <a:ext cx="1638995" cy="377190"/>
          </a:xfrm>
          <a:prstGeom prst="rect">
            <a:avLst/>
          </a:prstGeom>
        </p:spPr>
        <p:txBody>
          <a:bodyPr anchor="t" rtlCol="false" tIns="0" lIns="0" bIns="0" rIns="0">
            <a:spAutoFit/>
          </a:bodyPr>
          <a:lstStyle/>
          <a:p>
            <a:pPr algn="ctr">
              <a:lnSpc>
                <a:spcPts val="3150"/>
              </a:lnSpc>
            </a:pPr>
            <a:r>
              <a:rPr lang="en-US" b="true" sz="2100" spc="-10">
                <a:solidFill>
                  <a:srgbClr val="F8F6F3"/>
                </a:solidFill>
                <a:latin typeface="Montserrat Bold"/>
                <a:ea typeface="Montserrat Bold"/>
                <a:cs typeface="Montserrat Bold"/>
                <a:sym typeface="Montserrat Bold"/>
              </a:rPr>
              <a:t>Rendang</a:t>
            </a:r>
          </a:p>
        </p:txBody>
      </p:sp>
      <p:sp>
        <p:nvSpPr>
          <p:cNvPr name="TextBox 4" id="4"/>
          <p:cNvSpPr txBox="true"/>
          <p:nvPr/>
        </p:nvSpPr>
        <p:spPr>
          <a:xfrm rot="0">
            <a:off x="1619197" y="2722480"/>
            <a:ext cx="4190788" cy="735085"/>
          </a:xfrm>
          <a:prstGeom prst="rect">
            <a:avLst/>
          </a:prstGeom>
        </p:spPr>
        <p:txBody>
          <a:bodyPr anchor="t" rtlCol="false" tIns="0" lIns="0" bIns="0" rIns="0">
            <a:spAutoFit/>
          </a:bodyPr>
          <a:lstStyle/>
          <a:p>
            <a:pPr algn="ctr">
              <a:lnSpc>
                <a:spcPts val="6110"/>
              </a:lnSpc>
            </a:pPr>
            <a:r>
              <a:rPr lang="en-US" b="true" sz="4073" spc="-20">
                <a:solidFill>
                  <a:srgbClr val="E58E20"/>
                </a:solidFill>
                <a:latin typeface="Montserrat Bold"/>
                <a:ea typeface="Montserrat Bold"/>
                <a:cs typeface="Montserrat Bold"/>
                <a:sym typeface="Montserrat Bold"/>
              </a:rPr>
              <a:t>KESIMPULAN</a:t>
            </a:r>
          </a:p>
        </p:txBody>
      </p:sp>
      <p:sp>
        <p:nvSpPr>
          <p:cNvPr name="TextBox 5" id="5"/>
          <p:cNvSpPr txBox="true"/>
          <p:nvPr/>
        </p:nvSpPr>
        <p:spPr>
          <a:xfrm rot="0">
            <a:off x="632092" y="4044685"/>
            <a:ext cx="7403086" cy="4067176"/>
          </a:xfrm>
          <a:prstGeom prst="rect">
            <a:avLst/>
          </a:prstGeom>
        </p:spPr>
        <p:txBody>
          <a:bodyPr anchor="t" rtlCol="false" tIns="0" lIns="0" bIns="0" rIns="0">
            <a:spAutoFit/>
          </a:bodyPr>
          <a:lstStyle/>
          <a:p>
            <a:pPr algn="just">
              <a:lnSpc>
                <a:spcPts val="2971"/>
              </a:lnSpc>
            </a:pPr>
            <a:r>
              <a:rPr lang="en-US" b="true" sz="1980" spc="-9">
                <a:solidFill>
                  <a:srgbClr val="752833"/>
                </a:solidFill>
                <a:latin typeface="Montserrat Bold"/>
                <a:ea typeface="Montserrat Bold"/>
                <a:cs typeface="Montserrat Bold"/>
                <a:sym typeface="Montserrat Bold"/>
              </a:rPr>
              <a:t>Selama Juli hingga awal Oktober, harga cabai merah besar menunjukkan fluktuasi yang jelas, dengan lonjakan signifikan pada September hingga awal Oktober. Pola ini menggambarkan volatilitas harga yang meningkat di akhir p</a:t>
            </a:r>
            <a:r>
              <a:rPr lang="en-US" b="true" sz="1980" spc="-9">
                <a:solidFill>
                  <a:srgbClr val="752833"/>
                </a:solidFill>
                <a:latin typeface="Montserrat Bold"/>
                <a:ea typeface="Montserrat Bold"/>
                <a:cs typeface="Montserrat Bold"/>
                <a:sym typeface="Montserrat Bold"/>
              </a:rPr>
              <a:t>eriode. Melalui metode bootstrap, estimasi statistik seperti mean, median, dan rentang nilai menjadi lebih stabil dan reliabel. Interval kepercayaan 95% sebesar Rp41.839–Rp46.025 menunjukkan bahwa bootstrap mampu memberikan gambaran yang lebih akurat tentang estimasi rata-rata populasi, terutama dengan jumlah data yang terbatas.</a:t>
            </a:r>
          </a:p>
        </p:txBody>
      </p:sp>
      <p:sp>
        <p:nvSpPr>
          <p:cNvPr name="AutoShape 6" id="6"/>
          <p:cNvSpPr/>
          <p:nvPr/>
        </p:nvSpPr>
        <p:spPr>
          <a:xfrm flipV="true">
            <a:off x="9115425" y="3457564"/>
            <a:ext cx="0" cy="5644007"/>
          </a:xfrm>
          <a:prstGeom prst="line">
            <a:avLst/>
          </a:prstGeom>
          <a:ln cap="rnd" w="57150">
            <a:solidFill>
              <a:srgbClr val="E58E20"/>
            </a:solidFill>
            <a:prstDash val="sysDot"/>
            <a:headEnd type="none" len="sm" w="sm"/>
            <a:tailEnd type="none" len="sm" w="sm"/>
          </a:ln>
        </p:spPr>
      </p:sp>
      <p:sp>
        <p:nvSpPr>
          <p:cNvPr name="Freeform 7" id="7"/>
          <p:cNvSpPr/>
          <p:nvPr/>
        </p:nvSpPr>
        <p:spPr>
          <a:xfrm flipH="false" flipV="false" rot="0">
            <a:off x="801226" y="632973"/>
            <a:ext cx="454947" cy="454947"/>
          </a:xfrm>
          <a:custGeom>
            <a:avLst/>
            <a:gdLst/>
            <a:ahLst/>
            <a:cxnLst/>
            <a:rect r="r" b="b" t="t" l="l"/>
            <a:pathLst>
              <a:path h="454947" w="454947">
                <a:moveTo>
                  <a:pt x="0" y="0"/>
                </a:moveTo>
                <a:lnTo>
                  <a:pt x="454948" y="0"/>
                </a:lnTo>
                <a:lnTo>
                  <a:pt x="454948" y="454947"/>
                </a:lnTo>
                <a:lnTo>
                  <a:pt x="0" y="4549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1307551" y="2722480"/>
            <a:ext cx="4190788" cy="735085"/>
          </a:xfrm>
          <a:prstGeom prst="rect">
            <a:avLst/>
          </a:prstGeom>
        </p:spPr>
        <p:txBody>
          <a:bodyPr anchor="t" rtlCol="false" tIns="0" lIns="0" bIns="0" rIns="0">
            <a:spAutoFit/>
          </a:bodyPr>
          <a:lstStyle/>
          <a:p>
            <a:pPr algn="ctr">
              <a:lnSpc>
                <a:spcPts val="6110"/>
              </a:lnSpc>
            </a:pPr>
            <a:r>
              <a:rPr lang="en-US" b="true" sz="4073" spc="-20">
                <a:solidFill>
                  <a:srgbClr val="E58E20"/>
                </a:solidFill>
                <a:latin typeface="Montserrat Bold"/>
                <a:ea typeface="Montserrat Bold"/>
                <a:cs typeface="Montserrat Bold"/>
                <a:sym typeface="Montserrat Bold"/>
              </a:rPr>
              <a:t>SARAN</a:t>
            </a:r>
          </a:p>
        </p:txBody>
      </p:sp>
      <p:sp>
        <p:nvSpPr>
          <p:cNvPr name="TextBox 9" id="9"/>
          <p:cNvSpPr txBox="true"/>
          <p:nvPr/>
        </p:nvSpPr>
        <p:spPr>
          <a:xfrm rot="0">
            <a:off x="10320446" y="4230389"/>
            <a:ext cx="7403086" cy="3695767"/>
          </a:xfrm>
          <a:prstGeom prst="rect">
            <a:avLst/>
          </a:prstGeom>
        </p:spPr>
        <p:txBody>
          <a:bodyPr anchor="t" rtlCol="false" tIns="0" lIns="0" bIns="0" rIns="0">
            <a:spAutoFit/>
          </a:bodyPr>
          <a:lstStyle/>
          <a:p>
            <a:pPr algn="just">
              <a:lnSpc>
                <a:spcPts val="2971"/>
              </a:lnSpc>
            </a:pPr>
            <a:r>
              <a:rPr lang="en-US" b="true" sz="1980" spc="-9">
                <a:solidFill>
                  <a:srgbClr val="752833"/>
                </a:solidFill>
                <a:latin typeface="Montserrat Bold"/>
                <a:ea typeface="Montserrat Bold"/>
                <a:cs typeface="Montserrat Bold"/>
                <a:sym typeface="Montserrat Bold"/>
              </a:rPr>
              <a:t>Metode bootstrap disarankan tetap digunakan dan dikembangkan pada analisis selanjutnya, termasuk untuk estimasi parameter lain agar hasil lebih komprehensif. Jumlah replikasi sebaiknya ditingkatkan dan pengecekan outlier p</a:t>
            </a:r>
            <a:r>
              <a:rPr lang="en-US" b="true" sz="1980" spc="-9">
                <a:solidFill>
                  <a:srgbClr val="752833"/>
                </a:solidFill>
                <a:latin typeface="Montserrat Bold"/>
                <a:ea typeface="Montserrat Bold"/>
                <a:cs typeface="Montserrat Bold"/>
                <a:sym typeface="Montserrat Bold"/>
              </a:rPr>
              <a:t>erlu dilakukan untuk menjaga kualitas data. Dari sisi kebijakan, pemerintah perlu memperkuat langkah stabilisasi harga, seperti kerja sama antar daerah (KAD) untuk menekan biaya distribusi serta operasi pasar guna menjaga keterjangkauan harga bagi masyarakat.</a:t>
            </a:r>
          </a:p>
        </p:txBody>
      </p:sp>
      <p:sp>
        <p:nvSpPr>
          <p:cNvPr name="Freeform 10" id="10"/>
          <p:cNvSpPr/>
          <p:nvPr/>
        </p:nvSpPr>
        <p:spPr>
          <a:xfrm flipH="false" flipV="false" rot="0">
            <a:off x="15498339" y="8247261"/>
            <a:ext cx="2522988" cy="1665172"/>
          </a:xfrm>
          <a:custGeom>
            <a:avLst/>
            <a:gdLst/>
            <a:ahLst/>
            <a:cxnLst/>
            <a:rect r="r" b="b" t="t" l="l"/>
            <a:pathLst>
              <a:path h="1665172" w="2522988">
                <a:moveTo>
                  <a:pt x="0" y="0"/>
                </a:moveTo>
                <a:lnTo>
                  <a:pt x="2522988" y="0"/>
                </a:lnTo>
                <a:lnTo>
                  <a:pt x="2522988" y="1665172"/>
                </a:lnTo>
                <a:lnTo>
                  <a:pt x="0" y="16651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wipe dir="r"/>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6F3"/>
        </a:solidFill>
      </p:bgPr>
    </p:bg>
    <p:spTree>
      <p:nvGrpSpPr>
        <p:cNvPr id="1" name=""/>
        <p:cNvGrpSpPr/>
        <p:nvPr/>
      </p:nvGrpSpPr>
      <p:grpSpPr>
        <a:xfrm>
          <a:off x="0" y="0"/>
          <a:ext cx="0" cy="0"/>
          <a:chOff x="0" y="0"/>
          <a:chExt cx="0" cy="0"/>
        </a:xfrm>
      </p:grpSpPr>
      <p:grpSp>
        <p:nvGrpSpPr>
          <p:cNvPr name="Group 2" id="2"/>
          <p:cNvGrpSpPr/>
          <p:nvPr/>
        </p:nvGrpSpPr>
        <p:grpSpPr>
          <a:xfrm rot="0">
            <a:off x="578009" y="961806"/>
            <a:ext cx="17131982" cy="8363388"/>
            <a:chOff x="0" y="0"/>
            <a:chExt cx="4512127" cy="2202703"/>
          </a:xfrm>
        </p:grpSpPr>
        <p:sp>
          <p:nvSpPr>
            <p:cNvPr name="Freeform 3" id="3"/>
            <p:cNvSpPr/>
            <p:nvPr/>
          </p:nvSpPr>
          <p:spPr>
            <a:xfrm flipH="false" flipV="false" rot="0">
              <a:off x="0" y="0"/>
              <a:ext cx="4512127" cy="2202703"/>
            </a:xfrm>
            <a:custGeom>
              <a:avLst/>
              <a:gdLst/>
              <a:ahLst/>
              <a:cxnLst/>
              <a:rect r="r" b="b" t="t" l="l"/>
              <a:pathLst>
                <a:path h="2202703" w="4512127">
                  <a:moveTo>
                    <a:pt x="34796" y="0"/>
                  </a:moveTo>
                  <a:lnTo>
                    <a:pt x="4477331" y="0"/>
                  </a:lnTo>
                  <a:cubicBezTo>
                    <a:pt x="4486559" y="0"/>
                    <a:pt x="4495410" y="3666"/>
                    <a:pt x="4501935" y="10192"/>
                  </a:cubicBezTo>
                  <a:cubicBezTo>
                    <a:pt x="4508461" y="16717"/>
                    <a:pt x="4512127" y="25568"/>
                    <a:pt x="4512127" y="34796"/>
                  </a:cubicBezTo>
                  <a:lnTo>
                    <a:pt x="4512127" y="2167907"/>
                  </a:lnTo>
                  <a:cubicBezTo>
                    <a:pt x="4512127" y="2187124"/>
                    <a:pt x="4496548" y="2202703"/>
                    <a:pt x="4477331" y="2202703"/>
                  </a:cubicBezTo>
                  <a:lnTo>
                    <a:pt x="34796" y="2202703"/>
                  </a:lnTo>
                  <a:cubicBezTo>
                    <a:pt x="15579" y="2202703"/>
                    <a:pt x="0" y="2187124"/>
                    <a:pt x="0" y="2167907"/>
                  </a:cubicBezTo>
                  <a:lnTo>
                    <a:pt x="0" y="34796"/>
                  </a:lnTo>
                  <a:cubicBezTo>
                    <a:pt x="0" y="15579"/>
                    <a:pt x="15579" y="0"/>
                    <a:pt x="34796" y="0"/>
                  </a:cubicBezTo>
                  <a:close/>
                </a:path>
              </a:pathLst>
            </a:custGeom>
            <a:solidFill>
              <a:srgbClr val="E58E20"/>
            </a:solidFill>
            <a:ln w="161925" cap="rnd">
              <a:solidFill>
                <a:srgbClr val="D12324"/>
              </a:solidFill>
              <a:prstDash val="solid"/>
              <a:round/>
            </a:ln>
          </p:spPr>
        </p:sp>
        <p:sp>
          <p:nvSpPr>
            <p:cNvPr name="TextBox 4" id="4"/>
            <p:cNvSpPr txBox="true"/>
            <p:nvPr/>
          </p:nvSpPr>
          <p:spPr>
            <a:xfrm>
              <a:off x="0" y="19050"/>
              <a:ext cx="4512127" cy="2183653"/>
            </a:xfrm>
            <a:prstGeom prst="rect">
              <a:avLst/>
            </a:prstGeom>
          </p:spPr>
          <p:txBody>
            <a:bodyPr anchor="ctr" rtlCol="false" tIns="50800" lIns="50800" bIns="50800" rIns="50800"/>
            <a:lstStyle/>
            <a:p>
              <a:pPr algn="ctr" marL="0" indent="0" lvl="0">
                <a:lnSpc>
                  <a:spcPts val="2875"/>
                </a:lnSpc>
                <a:spcBef>
                  <a:spcPct val="0"/>
                </a:spcBef>
              </a:pPr>
            </a:p>
          </p:txBody>
        </p:sp>
      </p:grpSp>
      <p:grpSp>
        <p:nvGrpSpPr>
          <p:cNvPr name="Group 5" id="5"/>
          <p:cNvGrpSpPr/>
          <p:nvPr/>
        </p:nvGrpSpPr>
        <p:grpSpPr>
          <a:xfrm rot="0">
            <a:off x="889884" y="1282633"/>
            <a:ext cx="16508232" cy="7721735"/>
            <a:chOff x="0" y="0"/>
            <a:chExt cx="4347847" cy="2033708"/>
          </a:xfrm>
        </p:grpSpPr>
        <p:sp>
          <p:nvSpPr>
            <p:cNvPr name="Freeform 6" id="6"/>
            <p:cNvSpPr/>
            <p:nvPr/>
          </p:nvSpPr>
          <p:spPr>
            <a:xfrm flipH="false" flipV="false" rot="0">
              <a:off x="0" y="0"/>
              <a:ext cx="4347847" cy="2033708"/>
            </a:xfrm>
            <a:custGeom>
              <a:avLst/>
              <a:gdLst/>
              <a:ahLst/>
              <a:cxnLst/>
              <a:rect r="r" b="b" t="t" l="l"/>
              <a:pathLst>
                <a:path h="2033708" w="4347847">
                  <a:moveTo>
                    <a:pt x="22042" y="0"/>
                  </a:moveTo>
                  <a:lnTo>
                    <a:pt x="4325805" y="0"/>
                  </a:lnTo>
                  <a:cubicBezTo>
                    <a:pt x="4337979" y="0"/>
                    <a:pt x="4347847" y="9868"/>
                    <a:pt x="4347847" y="22042"/>
                  </a:cubicBezTo>
                  <a:lnTo>
                    <a:pt x="4347847" y="2011666"/>
                  </a:lnTo>
                  <a:cubicBezTo>
                    <a:pt x="4347847" y="2023840"/>
                    <a:pt x="4337979" y="2033708"/>
                    <a:pt x="4325805" y="2033708"/>
                  </a:cubicBezTo>
                  <a:lnTo>
                    <a:pt x="22042" y="2033708"/>
                  </a:lnTo>
                  <a:cubicBezTo>
                    <a:pt x="9868" y="2033708"/>
                    <a:pt x="0" y="2023840"/>
                    <a:pt x="0" y="2011666"/>
                  </a:cubicBezTo>
                  <a:lnTo>
                    <a:pt x="0" y="22042"/>
                  </a:lnTo>
                  <a:cubicBezTo>
                    <a:pt x="0" y="9868"/>
                    <a:pt x="9868" y="0"/>
                    <a:pt x="22042" y="0"/>
                  </a:cubicBezTo>
                  <a:close/>
                </a:path>
              </a:pathLst>
            </a:custGeom>
            <a:solidFill>
              <a:srgbClr val="F8F6F3"/>
            </a:solidFill>
            <a:ln w="47625" cap="rnd">
              <a:solidFill>
                <a:srgbClr val="D12324"/>
              </a:solidFill>
              <a:prstDash val="solid"/>
              <a:round/>
            </a:ln>
          </p:spPr>
        </p:sp>
        <p:sp>
          <p:nvSpPr>
            <p:cNvPr name="TextBox 7" id="7"/>
            <p:cNvSpPr txBox="true"/>
            <p:nvPr/>
          </p:nvSpPr>
          <p:spPr>
            <a:xfrm>
              <a:off x="0" y="19050"/>
              <a:ext cx="4347847" cy="2014658"/>
            </a:xfrm>
            <a:prstGeom prst="rect">
              <a:avLst/>
            </a:prstGeom>
          </p:spPr>
          <p:txBody>
            <a:bodyPr anchor="ctr" rtlCol="false" tIns="50800" lIns="50800" bIns="50800" rIns="50800"/>
            <a:lstStyle/>
            <a:p>
              <a:pPr algn="ctr" marL="0" indent="0" lvl="0">
                <a:lnSpc>
                  <a:spcPts val="2875"/>
                </a:lnSpc>
                <a:spcBef>
                  <a:spcPct val="0"/>
                </a:spcBef>
              </a:pPr>
            </a:p>
          </p:txBody>
        </p:sp>
      </p:grpSp>
      <p:sp>
        <p:nvSpPr>
          <p:cNvPr name="TextBox 8" id="8"/>
          <p:cNvSpPr txBox="true"/>
          <p:nvPr/>
        </p:nvSpPr>
        <p:spPr>
          <a:xfrm rot="0">
            <a:off x="3306388" y="4679950"/>
            <a:ext cx="11675224" cy="955675"/>
          </a:xfrm>
          <a:prstGeom prst="rect">
            <a:avLst/>
          </a:prstGeom>
        </p:spPr>
        <p:txBody>
          <a:bodyPr anchor="t" rtlCol="false" tIns="0" lIns="0" bIns="0" rIns="0">
            <a:spAutoFit/>
          </a:bodyPr>
          <a:lstStyle/>
          <a:p>
            <a:pPr algn="ctr">
              <a:lnSpc>
                <a:spcPts val="7475"/>
              </a:lnSpc>
            </a:pPr>
            <a:r>
              <a:rPr lang="en-US" sz="6500" spc="-208">
                <a:solidFill>
                  <a:srgbClr val="D12324"/>
                </a:solidFill>
                <a:latin typeface="League Spartan"/>
                <a:ea typeface="League Spartan"/>
                <a:cs typeface="League Spartan"/>
                <a:sym typeface="League Spartan"/>
              </a:rPr>
              <a:t>THANK YOU</a:t>
            </a:r>
          </a:p>
        </p:txBody>
      </p:sp>
      <p:sp>
        <p:nvSpPr>
          <p:cNvPr name="Freeform 9" id="9"/>
          <p:cNvSpPr/>
          <p:nvPr/>
        </p:nvSpPr>
        <p:spPr>
          <a:xfrm flipH="false" flipV="false" rot="0">
            <a:off x="16414898" y="4688553"/>
            <a:ext cx="454947" cy="454947"/>
          </a:xfrm>
          <a:custGeom>
            <a:avLst/>
            <a:gdLst/>
            <a:ahLst/>
            <a:cxnLst/>
            <a:rect r="r" b="b" t="t" l="l"/>
            <a:pathLst>
              <a:path h="454947" w="454947">
                <a:moveTo>
                  <a:pt x="0" y="0"/>
                </a:moveTo>
                <a:lnTo>
                  <a:pt x="454947" y="0"/>
                </a:lnTo>
                <a:lnTo>
                  <a:pt x="454947" y="454947"/>
                </a:lnTo>
                <a:lnTo>
                  <a:pt x="0" y="4549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22691" y="4688553"/>
            <a:ext cx="454947" cy="454947"/>
          </a:xfrm>
          <a:custGeom>
            <a:avLst/>
            <a:gdLst/>
            <a:ahLst/>
            <a:cxnLst/>
            <a:rect r="r" b="b" t="t" l="l"/>
            <a:pathLst>
              <a:path h="454947" w="454947">
                <a:moveTo>
                  <a:pt x="0" y="0"/>
                </a:moveTo>
                <a:lnTo>
                  <a:pt x="454947" y="0"/>
                </a:lnTo>
                <a:lnTo>
                  <a:pt x="454947" y="454947"/>
                </a:lnTo>
                <a:lnTo>
                  <a:pt x="0" y="4549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DAG5xQ630Fk</dc:identifier>
  <dcterms:modified xsi:type="dcterms:W3CDTF">2011-08-01T06:04:30Z</dcterms:modified>
  <cp:revision>1</cp:revision>
  <dc:title>PPT_1_RB_KOMSTAT</dc:title>
</cp:coreProperties>
</file>